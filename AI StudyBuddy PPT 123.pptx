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8" r:id="rId1"/>
  </p:sld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617" y="-5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701583"/>
            <a:ext cx="3655922" cy="7490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7556500" cy="74595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46382" y="7702297"/>
            <a:ext cx="2739498" cy="747599"/>
          </a:xfrm>
        </p:spPr>
        <p:txBody>
          <a:bodyPr anchor="t"/>
          <a:lstStyle>
            <a:lvl1pPr>
              <a:defRPr sz="868"/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90481" y="7701583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1569" y="9158191"/>
            <a:ext cx="623411" cy="15683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301" y="8917200"/>
            <a:ext cx="3666792" cy="1782233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32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957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67" y="1578244"/>
            <a:ext cx="6887750" cy="1325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159" y="172087"/>
            <a:ext cx="3270549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94537" y="163175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75" y="3298679"/>
            <a:ext cx="6826181" cy="6941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10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509211"/>
            <a:ext cx="2606993" cy="215293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250" y="0"/>
            <a:ext cx="3778250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35" y="126752"/>
            <a:ext cx="2884694" cy="58314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890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9627589"/>
            <a:ext cx="3651276" cy="10210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1569" y="9158191"/>
            <a:ext cx="623411" cy="156836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35" y="3367426"/>
            <a:ext cx="6001750" cy="5888499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700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1590" y="129614"/>
            <a:ext cx="453390" cy="11406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35" y="3405472"/>
            <a:ext cx="5004292" cy="735705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01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35" y="128321"/>
            <a:ext cx="5044893" cy="2423837"/>
          </a:xfrm>
        </p:spPr>
        <p:txBody>
          <a:bodyPr anchor="t">
            <a:norm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2957091"/>
            <a:ext cx="5044893" cy="5547695"/>
          </a:xfrm>
        </p:spPr>
        <p:txBody>
          <a:bodyPr>
            <a:normAutofit/>
          </a:bodyPr>
          <a:lstStyle>
            <a:lvl1pPr marL="212529" indent="-212529">
              <a:buFont typeface="+mj-lt"/>
              <a:buAutoNum type="arabicPeriod"/>
              <a:defRPr sz="868"/>
            </a:lvl1pPr>
            <a:lvl2pPr marL="354216" indent="-212529">
              <a:buFont typeface="+mj-lt"/>
              <a:buAutoNum type="arabicPeriod"/>
              <a:defRPr sz="868"/>
            </a:lvl2pPr>
            <a:lvl3pPr marL="495902" indent="-212529">
              <a:buFont typeface="+mj-lt"/>
              <a:buAutoNum type="arabicPeriod"/>
              <a:defRPr sz="868"/>
            </a:lvl3pPr>
            <a:lvl4pPr marL="637588" indent="-212529">
              <a:buFont typeface="+mj-lt"/>
              <a:buAutoNum type="arabicPeriod"/>
              <a:defRPr sz="868"/>
            </a:lvl4pPr>
            <a:lvl5pPr marL="779275" indent="-212529">
              <a:buFont typeface="+mj-lt"/>
              <a:buAutoNum type="arabicPeriod"/>
              <a:defRPr sz="86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5300776" y="5018495"/>
            <a:ext cx="2205159" cy="5547695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16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90481" y="157020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5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881" y="969535"/>
            <a:ext cx="3338641" cy="2833015"/>
          </a:xfrm>
        </p:spPr>
        <p:txBody>
          <a:bodyPr anchor="t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660887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6813" y="172087"/>
            <a:ext cx="3315414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90481" y="172087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6813" y="4272726"/>
            <a:ext cx="3660887" cy="6387524"/>
          </a:xfrm>
        </p:spPr>
        <p:txBody>
          <a:bodyPr anchor="b">
            <a:normAutofit/>
          </a:bodyPr>
          <a:lstStyle>
            <a:lvl1pPr marL="212529" indent="-212529">
              <a:buFont typeface="+mj-lt"/>
              <a:buAutoNum type="arabicPeriod"/>
              <a:defRPr sz="868"/>
            </a:lvl1pPr>
            <a:lvl2pPr marL="354216" indent="-212529">
              <a:buFont typeface="+mj-lt"/>
              <a:buAutoNum type="arabicPeriod"/>
              <a:defRPr sz="868"/>
            </a:lvl2pPr>
            <a:lvl3pPr marL="495902" indent="-212529">
              <a:buFont typeface="+mj-lt"/>
              <a:buAutoNum type="arabicPeriod"/>
              <a:defRPr sz="868"/>
            </a:lvl3pPr>
            <a:lvl4pPr marL="637588" indent="-212529">
              <a:buFont typeface="+mj-lt"/>
              <a:buAutoNum type="arabicPeriod"/>
              <a:defRPr sz="868"/>
            </a:lvl4pPr>
            <a:lvl5pPr marL="779275" indent="-212529">
              <a:buFont typeface="+mj-lt"/>
              <a:buAutoNum type="arabicPeriod"/>
              <a:defRPr sz="86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89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67" y="1539849"/>
            <a:ext cx="3326100" cy="6306437"/>
          </a:xfrm>
        </p:spPr>
        <p:txBody>
          <a:bodyPr>
            <a:norm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822" y="157020"/>
            <a:ext cx="3326100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6813" y="157020"/>
            <a:ext cx="1822466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3240" y="157020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6813" y="1511334"/>
            <a:ext cx="3307675" cy="751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42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75" y="1542075"/>
            <a:ext cx="2146263" cy="4587994"/>
          </a:xfrm>
        </p:spPr>
        <p:txBody>
          <a:bodyPr>
            <a:norm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822" y="157020"/>
            <a:ext cx="2150816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75744" y="157020"/>
            <a:ext cx="1822466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3240" y="157020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75745" y="1508878"/>
            <a:ext cx="4473514" cy="8166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1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348" y="954485"/>
            <a:ext cx="4028432" cy="23694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2977487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63492" y="3831734"/>
            <a:ext cx="3992288" cy="5892405"/>
          </a:xfrm>
        </p:spPr>
        <p:txBody>
          <a:bodyPr anchor="t"/>
          <a:lstStyle>
            <a:lvl1pPr marL="0" indent="0">
              <a:buNone/>
              <a:defRPr/>
            </a:lvl1pPr>
            <a:lvl2pPr marL="141686" indent="0">
              <a:buNone/>
              <a:defRPr/>
            </a:lvl2pPr>
            <a:lvl3pPr marL="283373" indent="0">
              <a:buNone/>
              <a:defRPr/>
            </a:lvl3pPr>
            <a:lvl4pPr marL="425059" indent="0">
              <a:buNone/>
              <a:defRPr/>
            </a:lvl4pPr>
            <a:lvl5pPr marL="5667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163493" y="10061885"/>
            <a:ext cx="1219982" cy="5693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89761" y="10061883"/>
            <a:ext cx="266019" cy="569325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79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820" y="969536"/>
            <a:ext cx="4495169" cy="17756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2493645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70737" y="3298463"/>
            <a:ext cx="4478252" cy="6569044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141686" indent="0">
              <a:buNone/>
              <a:defRPr/>
            </a:lvl2pPr>
            <a:lvl3pPr marL="283373" indent="0">
              <a:buNone/>
              <a:defRPr/>
            </a:lvl3pPr>
            <a:lvl4pPr marL="425059" indent="0">
              <a:buNone/>
              <a:defRPr/>
            </a:lvl4pPr>
            <a:lvl5pPr marL="5667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653820" y="10124076"/>
            <a:ext cx="1219982" cy="5693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592940" y="10124076"/>
            <a:ext cx="989311" cy="569325"/>
          </a:xfrm>
        </p:spPr>
        <p:txBody>
          <a:bodyPr anchor="b"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82970" y="10124076"/>
            <a:ext cx="266019" cy="569325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27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17" y="969536"/>
            <a:ext cx="4495169" cy="1775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53035" y="3298463"/>
            <a:ext cx="4478252" cy="6569044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141686" indent="0">
              <a:buNone/>
              <a:defRPr/>
            </a:lvl2pPr>
            <a:lvl3pPr marL="283373" indent="0">
              <a:buNone/>
              <a:defRPr/>
            </a:lvl3pPr>
            <a:lvl4pPr marL="425059" indent="0">
              <a:buNone/>
              <a:defRPr/>
            </a:lvl4pPr>
            <a:lvl5pPr marL="5667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62855" y="2"/>
            <a:ext cx="2493645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36118" y="10124076"/>
            <a:ext cx="1219982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75238" y="10124076"/>
            <a:ext cx="989311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5268" y="10124076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23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33" y="969536"/>
            <a:ext cx="3301434" cy="235051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1434" y="3918590"/>
            <a:ext cx="3301434" cy="556344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141686" indent="0">
              <a:buNone/>
              <a:defRPr/>
            </a:lvl2pPr>
            <a:lvl3pPr marL="283373" indent="0">
              <a:buNone/>
              <a:defRPr/>
            </a:lvl3pPr>
            <a:lvl4pPr marL="425059" indent="0">
              <a:buNone/>
              <a:defRPr/>
            </a:lvl4pPr>
            <a:lvl5pPr marL="5667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910168" y="0"/>
            <a:ext cx="3646332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21434" y="10057592"/>
            <a:ext cx="1219982" cy="5693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80315" y="10080579"/>
            <a:ext cx="266019" cy="569325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33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50" y="969536"/>
            <a:ext cx="2756134" cy="2912118"/>
          </a:xfrm>
        </p:spPr>
        <p:txBody>
          <a:bodyPr anchor="t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7130" y="4507396"/>
            <a:ext cx="2757594" cy="489363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4296" y="0"/>
            <a:ext cx="4232204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19576" y="10026780"/>
            <a:ext cx="1219982" cy="592311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828705" y="10026780"/>
            <a:ext cx="266019" cy="592311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863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241" y="969536"/>
            <a:ext cx="2407609" cy="3555892"/>
          </a:xfrm>
        </p:spPr>
        <p:txBody>
          <a:bodyPr anchor="t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500065" cy="10693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4662" y="5007580"/>
            <a:ext cx="2407610" cy="427736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41241" y="10067177"/>
            <a:ext cx="1219982" cy="592311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900855" y="10067179"/>
            <a:ext cx="266019" cy="592311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79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73" y="5626238"/>
            <a:ext cx="2744871" cy="4086175"/>
          </a:xfrm>
        </p:spPr>
        <p:txBody>
          <a:bodyPr anchor="t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556500" cy="53467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65085" y="5581684"/>
            <a:ext cx="3903722" cy="408617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41686" indent="0">
              <a:buNone/>
              <a:defRPr lang="en-US" dirty="0"/>
            </a:lvl2pPr>
            <a:lvl3pPr marL="283373" indent="0">
              <a:buNone/>
              <a:defRPr lang="en-US" dirty="0"/>
            </a:lvl3pPr>
            <a:lvl4pPr marL="425059" indent="0">
              <a:buNone/>
              <a:defRPr lang="en-US" dirty="0"/>
            </a:lvl4pPr>
            <a:lvl5pPr marL="566745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261757" y="10046109"/>
            <a:ext cx="1219982" cy="592311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4770561" y="10046109"/>
            <a:ext cx="1423040" cy="592311"/>
          </a:xfrm>
        </p:spPr>
        <p:txBody>
          <a:bodyPr anchor="b"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902788" y="10046110"/>
            <a:ext cx="266019" cy="592311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017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73" y="985000"/>
            <a:ext cx="6837690" cy="1738891"/>
          </a:xfrm>
        </p:spPr>
        <p:txBody>
          <a:bodyPr anchor="t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670" y="3298463"/>
            <a:ext cx="3586518" cy="72839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36813" y="3298462"/>
            <a:ext cx="3318250" cy="640994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868"/>
            </a:lvl1pPr>
            <a:lvl2pPr marL="141686" indent="0">
              <a:buFont typeface="Arial" panose="020B0604020202020204" pitchFamily="34" charset="0"/>
              <a:buNone/>
              <a:defRPr sz="868"/>
            </a:lvl2pPr>
            <a:lvl3pPr marL="283373" indent="0">
              <a:buFont typeface="Arial" panose="020B0604020202020204" pitchFamily="34" charset="0"/>
              <a:buNone/>
              <a:defRPr sz="868"/>
            </a:lvl3pPr>
            <a:lvl4pPr marL="425059" indent="0">
              <a:buFont typeface="Arial" panose="020B0604020202020204" pitchFamily="34" charset="0"/>
              <a:buNone/>
              <a:defRPr sz="868"/>
            </a:lvl4pPr>
            <a:lvl5pPr marL="566745" indent="0">
              <a:buFont typeface="Arial" panose="020B0604020202020204" pitchFamily="34" charset="0"/>
              <a:buNone/>
              <a:defRPr sz="86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28717" y="10024453"/>
            <a:ext cx="2769123" cy="5693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6772369" y="10013110"/>
            <a:ext cx="382695" cy="569325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902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32" y="1004163"/>
            <a:ext cx="1608080" cy="2926935"/>
          </a:xfrm>
        </p:spPr>
        <p:txBody>
          <a:bodyPr anchor="t" anchorCtr="0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6052" y="4521780"/>
            <a:ext cx="2237707" cy="516745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728436" y="1004163"/>
            <a:ext cx="4452012" cy="8685074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38360" y="10038954"/>
            <a:ext cx="3270549" cy="5693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36813" y="10029929"/>
            <a:ext cx="1576799" cy="569325"/>
          </a:xfrm>
        </p:spPr>
        <p:txBody>
          <a:bodyPr anchor="b"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79147" y="10038954"/>
            <a:ext cx="266019" cy="569325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9714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83236"/>
            <a:ext cx="3658418" cy="21101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24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33835" y="-244726"/>
            <a:ext cx="3692253" cy="7033173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929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5948" y="9125035"/>
            <a:ext cx="623411" cy="15683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90481" y="157020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044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14" y="-1767975"/>
            <a:ext cx="6602492" cy="1568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7489" y="9125035"/>
            <a:ext cx="623411" cy="1568365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0827" y="1585391"/>
            <a:ext cx="6249169" cy="9108011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3471" b="0" spc="-124" baseline="0"/>
            </a:lvl1pPr>
            <a:lvl2pPr marL="141686" indent="0">
              <a:lnSpc>
                <a:spcPct val="80000"/>
              </a:lnSpc>
              <a:buNone/>
              <a:defRPr sz="3471" b="0" spc="-124" baseline="0"/>
            </a:lvl2pPr>
            <a:lvl3pPr marL="283373" indent="0">
              <a:lnSpc>
                <a:spcPct val="80000"/>
              </a:lnSpc>
              <a:buNone/>
              <a:defRPr sz="3471" b="0" spc="-124" baseline="0"/>
            </a:lvl3pPr>
            <a:lvl4pPr marL="425059" indent="0">
              <a:lnSpc>
                <a:spcPct val="80000"/>
              </a:lnSpc>
              <a:buNone/>
              <a:defRPr sz="3471" b="0" spc="-124" baseline="0"/>
            </a:lvl4pPr>
            <a:lvl5pPr marL="566745" indent="0">
              <a:lnSpc>
                <a:spcPct val="80000"/>
              </a:lnSpc>
              <a:buNone/>
              <a:defRPr sz="3471" b="0" spc="-124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5455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366" y="9125035"/>
            <a:ext cx="623411" cy="156836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9199515"/>
            <a:ext cx="3658418" cy="149388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24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1335" y="148962"/>
            <a:ext cx="5554028" cy="6979971"/>
          </a:xfrm>
        </p:spPr>
        <p:txBody>
          <a:bodyPr anchor="t">
            <a:normAutofit/>
          </a:bodyPr>
          <a:lstStyle>
            <a:lvl1pPr marL="102014" indent="-102014">
              <a:lnSpc>
                <a:spcPct val="80000"/>
              </a:lnSpc>
              <a:spcBef>
                <a:spcPts val="0"/>
              </a:spcBef>
              <a:buNone/>
              <a:defRPr sz="3471" spc="-124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90481" y="172087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38388" y="9967665"/>
            <a:ext cx="1924370" cy="569325"/>
          </a:xfrm>
        </p:spPr>
        <p:txBody>
          <a:bodyPr anchor="b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65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73" y="1539850"/>
            <a:ext cx="2147935" cy="4591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708" y="172087"/>
            <a:ext cx="2153603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75001" y="163062"/>
            <a:ext cx="2997860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75000" y="1539849"/>
            <a:ext cx="4615480" cy="3992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675001" y="6130883"/>
            <a:ext cx="4615479" cy="3992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599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73" y="983793"/>
            <a:ext cx="6829187" cy="16970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708" y="172087"/>
            <a:ext cx="3270549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6813" y="163062"/>
            <a:ext cx="2997860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708" y="3564467"/>
            <a:ext cx="3213402" cy="832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8707" y="4648064"/>
            <a:ext cx="3212497" cy="5591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6813" y="3564467"/>
            <a:ext cx="3212497" cy="832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6813" y="4648065"/>
            <a:ext cx="3212497" cy="559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2277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6" y="1005197"/>
            <a:ext cx="6846189" cy="16970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708" y="171095"/>
            <a:ext cx="3270549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1456" y="172087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7748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57020"/>
            <a:ext cx="3655922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53815" y="157020"/>
            <a:ext cx="3304730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90481" y="157020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2922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0" y="1021461"/>
            <a:ext cx="6806806" cy="2383404"/>
          </a:xfrm>
        </p:spPr>
        <p:txBody>
          <a:bodyPr anchor="t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360" y="3894313"/>
            <a:ext cx="6806806" cy="5277539"/>
          </a:xfrm>
        </p:spPr>
        <p:txBody>
          <a:bodyPr/>
          <a:lstStyle>
            <a:lvl1pPr marL="0" indent="0">
              <a:buNone/>
              <a:defRPr/>
            </a:lvl1pPr>
            <a:lvl2pPr marL="141686" indent="0">
              <a:buNone/>
              <a:defRPr/>
            </a:lvl2pPr>
            <a:lvl3pPr marL="283373" indent="0">
              <a:buNone/>
              <a:defRPr/>
            </a:lvl3pPr>
            <a:lvl4pPr marL="425059" indent="0">
              <a:buNone/>
              <a:defRPr/>
            </a:lvl4pPr>
            <a:lvl5pPr marL="5667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38360" y="10038954"/>
            <a:ext cx="3270549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36813" y="10029929"/>
            <a:ext cx="1576799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79147" y="10038954"/>
            <a:ext cx="266019" cy="5693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32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33" y="4495485"/>
            <a:ext cx="4798335" cy="2872187"/>
          </a:xfrm>
        </p:spPr>
        <p:txBody>
          <a:bodyPr anchor="b">
            <a:noAutofit/>
          </a:bodyPr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770" y="157020"/>
            <a:ext cx="3323152" cy="5693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53816" y="157020"/>
            <a:ext cx="1565612" cy="5693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769" y="7674848"/>
            <a:ext cx="4798334" cy="1995252"/>
          </a:xfrm>
        </p:spPr>
        <p:txBody>
          <a:bodyPr anchor="t">
            <a:noAutofit/>
          </a:bodyPr>
          <a:lstStyle>
            <a:lvl1pPr marL="0" indent="0">
              <a:buNone/>
              <a:defRPr sz="868"/>
            </a:lvl1pPr>
            <a:lvl2pPr marL="141686" indent="0">
              <a:buNone/>
              <a:defRPr sz="868"/>
            </a:lvl2pPr>
            <a:lvl3pPr marL="283373" indent="0">
              <a:buNone/>
              <a:defRPr sz="868"/>
            </a:lvl3pPr>
            <a:lvl4pPr marL="425059" indent="0">
              <a:buNone/>
              <a:defRPr sz="868"/>
            </a:lvl4pPr>
            <a:lvl5pPr marL="566745" indent="0">
              <a:buNone/>
              <a:defRPr sz="86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90481" y="9967057"/>
            <a:ext cx="266019" cy="569325"/>
          </a:xfrm>
        </p:spPr>
        <p:txBody>
          <a:bodyPr anchor="b"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5239830" y="157019"/>
            <a:ext cx="2205159" cy="5547695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16" dirty="0"/>
          </a:p>
        </p:txBody>
      </p:sp>
    </p:spTree>
    <p:extLst>
      <p:ext uri="{BB962C8B-B14F-4D97-AF65-F5344CB8AC3E}">
        <p14:creationId xmlns:p14="http://schemas.microsoft.com/office/powerpoint/2010/main" val="2767309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35" y="1005197"/>
            <a:ext cx="7438487" cy="16970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6813" y="163062"/>
            <a:ext cx="2997860" cy="5693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620">
                <a:solidFill>
                  <a:schemeClr val="tx1"/>
                </a:solidFill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88" y="172087"/>
            <a:ext cx="3270549" cy="5693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62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90481" y="172087"/>
            <a:ext cx="266019" cy="5693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620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974321"/>
            <a:ext cx="7438487" cy="7546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8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  <p:sldLayoutId id="2147483844" r:id="rId26"/>
    <p:sldLayoutId id="2147483845" r:id="rId27"/>
  </p:sldLayoutIdLst>
  <p:txStyles>
    <p:titleStyle>
      <a:lvl1pPr algn="l" defTabSz="566745" rtl="0" eaLnBrk="1" latinLnBrk="0" hangingPunct="1">
        <a:lnSpc>
          <a:spcPct val="80000"/>
        </a:lnSpc>
        <a:spcBef>
          <a:spcPct val="0"/>
        </a:spcBef>
        <a:buNone/>
        <a:defRPr sz="3471" b="0" i="0" kern="1200" spc="-124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566745" rtl="0" eaLnBrk="1" latinLnBrk="0" hangingPunct="1">
        <a:lnSpc>
          <a:spcPct val="80000"/>
        </a:lnSpc>
        <a:spcBef>
          <a:spcPts val="620"/>
        </a:spcBef>
        <a:buFont typeface="Arial" panose="020B0604020202020204" pitchFamily="34" charset="0"/>
        <a:buNone/>
        <a:defRPr sz="868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41686" indent="0" algn="l" defTabSz="566745" rtl="0" eaLnBrk="1" latinLnBrk="0" hangingPunct="1">
        <a:lnSpc>
          <a:spcPct val="80000"/>
        </a:lnSpc>
        <a:spcBef>
          <a:spcPts val="620"/>
        </a:spcBef>
        <a:buFont typeface="Arial" panose="020B0604020202020204" pitchFamily="34" charset="0"/>
        <a:buNone/>
        <a:defRPr sz="868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283373" indent="0" algn="l" defTabSz="566745" rtl="0" eaLnBrk="1" latinLnBrk="0" hangingPunct="1">
        <a:lnSpc>
          <a:spcPct val="80000"/>
        </a:lnSpc>
        <a:spcBef>
          <a:spcPts val="620"/>
        </a:spcBef>
        <a:buFont typeface="Arial" panose="020B0604020202020204" pitchFamily="34" charset="0"/>
        <a:buNone/>
        <a:defRPr sz="868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425059" indent="0" algn="l" defTabSz="566745" rtl="0" eaLnBrk="1" latinLnBrk="0" hangingPunct="1">
        <a:lnSpc>
          <a:spcPct val="80000"/>
        </a:lnSpc>
        <a:spcBef>
          <a:spcPts val="620"/>
        </a:spcBef>
        <a:buFont typeface="Arial" panose="020B0604020202020204" pitchFamily="34" charset="0"/>
        <a:buNone/>
        <a:defRPr sz="868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66745" indent="0" algn="l" defTabSz="566745" rtl="0" eaLnBrk="1" latinLnBrk="0" hangingPunct="1">
        <a:lnSpc>
          <a:spcPct val="80000"/>
        </a:lnSpc>
        <a:spcBef>
          <a:spcPts val="620"/>
        </a:spcBef>
        <a:buFont typeface="Arial" panose="020B0604020202020204" pitchFamily="34" charset="0"/>
        <a:buNone/>
        <a:defRPr sz="868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mreenaffifa97@mail.com-" TargetMode="External"/><Relationship Id="rId7" Type="http://schemas.openxmlformats.org/officeDocument/2006/relationships/hyperlink" Target="mailto:sandhiyagevaran2007@gmail.com" TargetMode="External"/><Relationship Id="rId2" Type="http://schemas.openxmlformats.org/officeDocument/2006/relationships/hyperlink" Target="mailto:samreenaffifa97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&#8211;deepannivetha787@gmail.com" TargetMode="External"/><Relationship Id="rId5" Type="http://schemas.openxmlformats.org/officeDocument/2006/relationships/hyperlink" Target="mailto:nirmalachinna795@gmail.com" TargetMode="External"/><Relationship Id="rId4" Type="http://schemas.openxmlformats.org/officeDocument/2006/relationships/hyperlink" Target="mailto:kamaliboopathi61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1ShkBRp-qSXogvOqFn4InZa3CQok1GFr/view?usp=sharing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://user.js/" TargetMode="Externa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6zAkVviHYDW8VFsObGccLEO9ewXSoGlC/view?usp=sharing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drive.google.com/drive/folders/1mfJrGr63VDaF4zhXO7j9DIS_EWGJWjK0?usp=sharing" TargetMode="External"/><Relationship Id="rId4" Type="http://schemas.openxmlformats.org/officeDocument/2006/relationships/hyperlink" Target="https://drive.google.com/file/d/11ShkBRp-qSXogvOqFn4InZa3CQok1GFr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A0C1-7B00-48AF-5115-BB12A9F7A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04" y="1152499"/>
            <a:ext cx="5505781" cy="430887"/>
          </a:xfrm>
        </p:spPr>
        <p:txBody>
          <a:bodyPr>
            <a:noAutofit/>
          </a:bodyPr>
          <a:lstStyle/>
          <a:p>
            <a:r>
              <a:rPr lang="en-US" sz="2800" dirty="0"/>
              <a:t>NAAN MUDHALVAN PROJECT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0EF2B-1B65-EA85-FFC2-EFF4BD99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004" y="2654553"/>
            <a:ext cx="5761990" cy="6894195"/>
          </a:xfrm>
        </p:spPr>
        <p:txBody>
          <a:bodyPr/>
          <a:lstStyle/>
          <a:p>
            <a:r>
              <a:rPr lang="en-US" sz="2800" dirty="0"/>
              <a:t>AI STUDY BUDDY</a:t>
            </a:r>
          </a:p>
          <a:p>
            <a:endParaRPr lang="en-US" sz="1400" dirty="0"/>
          </a:p>
          <a:p>
            <a:r>
              <a:rPr lang="en-US" sz="1400" dirty="0"/>
              <a:t>INTRODUCTION </a:t>
            </a:r>
          </a:p>
          <a:p>
            <a:endParaRPr lang="en-US" sz="1400" dirty="0"/>
          </a:p>
          <a:p>
            <a:r>
              <a:rPr lang="en-US" sz="1400" dirty="0"/>
              <a:t>TEAM LEADER NAME: AFFIFA SAMREEN Y</a:t>
            </a:r>
          </a:p>
          <a:p>
            <a:endParaRPr lang="en-US" sz="1400" dirty="0"/>
          </a:p>
          <a:p>
            <a:r>
              <a:rPr lang="en-US" sz="1400" dirty="0"/>
              <a:t>          MAIL ID: </a:t>
            </a:r>
            <a:r>
              <a:rPr lang="en-US" sz="1400" dirty="0">
                <a:hlinkClick r:id="rId2"/>
              </a:rPr>
              <a:t>samreenaffifa97@gmail.com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TEAM MEMBERS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1.AFFIFA SAMREEN Y – </a:t>
            </a:r>
            <a:r>
              <a:rPr lang="en-US" sz="1400" dirty="0">
                <a:hlinkClick r:id="rId3"/>
              </a:rPr>
              <a:t>samreenaffifa97@mail.com-</a:t>
            </a:r>
            <a:r>
              <a:rPr lang="en-US" sz="1400" dirty="0"/>
              <a:t> CODE</a:t>
            </a:r>
          </a:p>
          <a:p>
            <a:r>
              <a:rPr lang="en-US" sz="1400" dirty="0"/>
              <a:t> DEVELOPER AND DEMO VIDEO MAKING</a:t>
            </a:r>
          </a:p>
          <a:p>
            <a:endParaRPr lang="en-US" sz="1400" dirty="0"/>
          </a:p>
          <a:p>
            <a:r>
              <a:rPr lang="en-US" sz="1400" dirty="0"/>
              <a:t>2.KAMALI B – </a:t>
            </a:r>
            <a:r>
              <a:rPr lang="en-US" sz="1400" dirty="0">
                <a:hlinkClick r:id="rId4"/>
              </a:rPr>
              <a:t>kamaliboopathi61@gmail.com</a:t>
            </a:r>
            <a:r>
              <a:rPr lang="en-US" sz="1400" dirty="0"/>
              <a:t> – DEVELOPER</a:t>
            </a:r>
          </a:p>
          <a:p>
            <a:endParaRPr lang="en-US" sz="1400" dirty="0"/>
          </a:p>
          <a:p>
            <a:r>
              <a:rPr lang="en-US" sz="1400" dirty="0"/>
              <a:t>3. NIRMALADEVI V - </a:t>
            </a:r>
            <a:r>
              <a:rPr lang="en-US" sz="1400" dirty="0">
                <a:hlinkClick r:id="rId5"/>
              </a:rPr>
              <a:t>nirmalachinna795@gmail.com</a:t>
            </a:r>
            <a:r>
              <a:rPr lang="en-US" sz="1400" dirty="0"/>
              <a:t> – DOCUMENT</a:t>
            </a:r>
          </a:p>
          <a:p>
            <a:endParaRPr lang="en-US" sz="1400" dirty="0"/>
          </a:p>
          <a:p>
            <a:r>
              <a:rPr lang="en-US" sz="1400" dirty="0"/>
              <a:t>4. NIVETHA P </a:t>
            </a:r>
            <a:r>
              <a:rPr lang="en-US" sz="1400" dirty="0">
                <a:hlinkClick r:id="rId6"/>
              </a:rPr>
              <a:t>–deepannivetha787@gmail.com</a:t>
            </a:r>
            <a:r>
              <a:rPr lang="en-US" sz="1400" dirty="0"/>
              <a:t> – DOCUMENT</a:t>
            </a:r>
          </a:p>
          <a:p>
            <a:endParaRPr lang="en-US" sz="1400" dirty="0"/>
          </a:p>
          <a:p>
            <a:r>
              <a:rPr lang="en-US" sz="1400" dirty="0"/>
              <a:t>5. SANDHIYA G - </a:t>
            </a:r>
            <a:r>
              <a:rPr lang="en-US" sz="1400" dirty="0">
                <a:hlinkClick r:id="rId7"/>
              </a:rPr>
              <a:t>sandhiyagevaran2007@gmail.com</a:t>
            </a:r>
            <a:r>
              <a:rPr lang="en-US" sz="1400" dirty="0"/>
              <a:t> –DOCUMENT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02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37845">
              <a:lnSpc>
                <a:spcPct val="110200"/>
              </a:lnSpc>
              <a:spcBef>
                <a:spcPts val="90"/>
              </a:spcBef>
            </a:pPr>
            <a:r>
              <a:rPr dirty="0"/>
              <a:t>AI</a:t>
            </a:r>
            <a:r>
              <a:rPr spc="-10" dirty="0"/>
              <a:t> </a:t>
            </a:r>
            <a:r>
              <a:rPr dirty="0"/>
              <a:t>StudyBuddy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 </a:t>
            </a:r>
            <a:r>
              <a:rPr dirty="0"/>
              <a:t>-</a:t>
            </a:r>
            <a:r>
              <a:rPr spc="5" dirty="0"/>
              <a:t> </a:t>
            </a:r>
            <a:r>
              <a:rPr spc="-25" dirty="0"/>
              <a:t>AI </a:t>
            </a:r>
            <a:r>
              <a:rPr dirty="0"/>
              <a:t>assistant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smarter</a:t>
            </a:r>
            <a:r>
              <a:rPr spc="-30" dirty="0"/>
              <a:t> </a:t>
            </a:r>
            <a:r>
              <a:rPr spc="-10" dirty="0"/>
              <a:t>learning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study</a:t>
            </a:r>
            <a:r>
              <a:rPr spc="-10" dirty="0"/>
              <a:t> support.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Description</a:t>
            </a:r>
          </a:p>
          <a:p>
            <a:pPr marL="12700" marR="5080" algn="just">
              <a:lnSpc>
                <a:spcPct val="110300"/>
              </a:lnSpc>
              <a:spcBef>
                <a:spcPts val="1305"/>
              </a:spcBef>
            </a:pPr>
            <a:r>
              <a:rPr sz="1100" spc="-30" dirty="0"/>
              <a:t>AI</a:t>
            </a:r>
            <a:r>
              <a:rPr sz="1100" spc="-45" dirty="0"/>
              <a:t> </a:t>
            </a:r>
            <a:r>
              <a:rPr sz="1100" dirty="0"/>
              <a:t>StudyBuddy</a:t>
            </a:r>
            <a:r>
              <a:rPr sz="1100" spc="155" dirty="0"/>
              <a:t> </a:t>
            </a:r>
            <a:r>
              <a:rPr sz="1100" b="0" dirty="0">
                <a:latin typeface="Microsoft Sans Serif"/>
                <a:cs typeface="Microsoft Sans Serif"/>
              </a:rPr>
              <a:t>is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</a:t>
            </a:r>
            <a:r>
              <a:rPr sz="1100" b="0" spc="-5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AI-powered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learning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assistance</a:t>
            </a:r>
            <a:r>
              <a:rPr sz="1100" b="0" spc="-5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platform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developed</a:t>
            </a:r>
            <a:r>
              <a:rPr sz="1100" b="0" spc="-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simplify</a:t>
            </a:r>
            <a:r>
              <a:rPr sz="1100" b="0" spc="-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-6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study </a:t>
            </a:r>
            <a:r>
              <a:rPr sz="1100" b="0" dirty="0">
                <a:latin typeface="Microsoft Sans Serif"/>
                <a:cs typeface="Microsoft Sans Serif"/>
              </a:rPr>
              <a:t>process</a:t>
            </a:r>
            <a:r>
              <a:rPr sz="1100" b="0" spc="3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for</a:t>
            </a:r>
            <a:r>
              <a:rPr sz="1100" b="0" spc="3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students</a:t>
            </a:r>
            <a:r>
              <a:rPr sz="1100" b="0" spc="3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by</a:t>
            </a:r>
            <a:r>
              <a:rPr sz="1100" b="0" spc="3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leveraging</a:t>
            </a:r>
            <a:r>
              <a:rPr sz="1100" b="0" spc="3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modern</a:t>
            </a:r>
            <a:r>
              <a:rPr sz="1100" b="0" spc="3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web</a:t>
            </a:r>
            <a:r>
              <a:rPr sz="1100" b="0" spc="3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technologies</a:t>
            </a:r>
            <a:r>
              <a:rPr sz="1100" b="0" spc="3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3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Generative</a:t>
            </a:r>
            <a:r>
              <a:rPr sz="1100" b="0" spc="3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AI.</a:t>
            </a:r>
            <a:r>
              <a:rPr sz="1100" b="0" spc="330" dirty="0">
                <a:latin typeface="Microsoft Sans Serif"/>
                <a:cs typeface="Microsoft Sans Serif"/>
              </a:rPr>
              <a:t> </a:t>
            </a:r>
            <a:r>
              <a:rPr sz="1100" b="0" spc="-25" dirty="0">
                <a:latin typeface="Microsoft Sans Serif"/>
                <a:cs typeface="Microsoft Sans Serif"/>
              </a:rPr>
              <a:t>The </a:t>
            </a:r>
            <a:r>
              <a:rPr sz="1100" b="0" dirty="0">
                <a:latin typeface="Microsoft Sans Serif"/>
                <a:cs typeface="Microsoft Sans Serif"/>
              </a:rPr>
              <a:t>application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provides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intelligent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backend</a:t>
            </a:r>
            <a:r>
              <a:rPr sz="1100" b="0" spc="16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system</a:t>
            </a:r>
            <a:r>
              <a:rPr sz="1100" b="0" spc="17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that</a:t>
            </a:r>
            <a:r>
              <a:rPr sz="1100" b="0" spc="17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enables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students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1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upload</a:t>
            </a:r>
            <a:r>
              <a:rPr sz="1100" b="0" spc="17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study </a:t>
            </a:r>
            <a:r>
              <a:rPr sz="1100" b="0" dirty="0">
                <a:latin typeface="Microsoft Sans Serif"/>
                <a:cs typeface="Microsoft Sans Serif"/>
              </a:rPr>
              <a:t>materials,</a:t>
            </a:r>
            <a:r>
              <a:rPr sz="1100" b="0" spc="1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generate</a:t>
            </a:r>
            <a:r>
              <a:rPr sz="1100" b="0" spc="20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concise</a:t>
            </a:r>
            <a:r>
              <a:rPr sz="1100" b="0" spc="20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summaries,</a:t>
            </a:r>
            <a:r>
              <a:rPr sz="1100" b="0" spc="1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create</a:t>
            </a:r>
            <a:r>
              <a:rPr sz="1100" b="0" spc="18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flashcards,</a:t>
            </a:r>
            <a:r>
              <a:rPr sz="1100" b="0" spc="2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produce</a:t>
            </a:r>
            <a:r>
              <a:rPr sz="1100" b="0" spc="1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quizzes,</a:t>
            </a:r>
            <a:r>
              <a:rPr sz="1100" b="0" spc="20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204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receive </a:t>
            </a:r>
            <a:r>
              <a:rPr sz="1100" b="0" dirty="0">
                <a:latin typeface="Microsoft Sans Serif"/>
                <a:cs typeface="Microsoft Sans Serif"/>
              </a:rPr>
              <a:t>personalized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study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plans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through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AI-</a:t>
            </a:r>
            <a:r>
              <a:rPr sz="1100" b="0" dirty="0">
                <a:latin typeface="Microsoft Sans Serif"/>
                <a:cs typeface="Microsoft Sans Serif"/>
              </a:rPr>
              <a:t>generated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responses.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backend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is</a:t>
            </a:r>
            <a:r>
              <a:rPr sz="1100" b="0" spc="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developed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using </a:t>
            </a:r>
            <a:r>
              <a:rPr sz="1100" dirty="0"/>
              <a:t>Node.js</a:t>
            </a:r>
            <a:r>
              <a:rPr sz="1100" spc="275" dirty="0"/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290" dirty="0">
                <a:latin typeface="Microsoft Sans Serif"/>
                <a:cs typeface="Microsoft Sans Serif"/>
              </a:rPr>
              <a:t> </a:t>
            </a:r>
            <a:r>
              <a:rPr sz="1100" dirty="0"/>
              <a:t>Express.js</a:t>
            </a:r>
            <a:r>
              <a:rPr sz="1100" b="0" dirty="0">
                <a:latin typeface="Microsoft Sans Serif"/>
                <a:cs typeface="Microsoft Sans Serif"/>
              </a:rPr>
              <a:t>,</a:t>
            </a:r>
            <a:r>
              <a:rPr sz="1100" b="0" spc="28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following</a:t>
            </a:r>
            <a:r>
              <a:rPr sz="1100" b="0" spc="30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</a:t>
            </a:r>
            <a:r>
              <a:rPr sz="1100" b="0" spc="29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RESTful</a:t>
            </a:r>
            <a:r>
              <a:rPr sz="1100" b="0" spc="27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API</a:t>
            </a:r>
            <a:r>
              <a:rPr sz="1100" b="0" spc="2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architecture</a:t>
            </a:r>
            <a:r>
              <a:rPr sz="1100" b="0" spc="27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that</a:t>
            </a:r>
            <a:r>
              <a:rPr sz="1100" b="0" spc="2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ensures</a:t>
            </a:r>
            <a:r>
              <a:rPr sz="1100" b="0" spc="29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scalability, </a:t>
            </a:r>
            <a:r>
              <a:rPr sz="1100" b="0" dirty="0">
                <a:latin typeface="Microsoft Sans Serif"/>
                <a:cs typeface="Microsoft Sans Serif"/>
              </a:rPr>
              <a:t>maintainability,</a:t>
            </a:r>
            <a:r>
              <a:rPr sz="1100" b="0" spc="25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2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secure</a:t>
            </a:r>
            <a:r>
              <a:rPr sz="1100" b="0" spc="25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communication</a:t>
            </a:r>
            <a:r>
              <a:rPr sz="1100" b="0" spc="25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between</a:t>
            </a:r>
            <a:r>
              <a:rPr sz="1100" b="0" spc="2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2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frontend</a:t>
            </a:r>
            <a:r>
              <a:rPr sz="1100" b="0" spc="25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2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backend</a:t>
            </a:r>
            <a:r>
              <a:rPr sz="1100" b="0" spc="254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services. </a:t>
            </a:r>
            <a:r>
              <a:rPr sz="1100" dirty="0"/>
              <a:t>MongoDB</a:t>
            </a:r>
            <a:r>
              <a:rPr sz="1100" spc="-35" dirty="0"/>
              <a:t> </a:t>
            </a:r>
            <a:r>
              <a:rPr sz="1100" b="0" dirty="0">
                <a:latin typeface="Microsoft Sans Serif"/>
                <a:cs typeface="Microsoft Sans Serif"/>
              </a:rPr>
              <a:t>serves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as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primary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NoSQL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database,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while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dirty="0"/>
              <a:t>Mongoose</a:t>
            </a:r>
            <a:r>
              <a:rPr sz="1100" spc="-40" dirty="0"/>
              <a:t> </a:t>
            </a:r>
            <a:r>
              <a:rPr sz="1100" dirty="0"/>
              <a:t>ODM</a:t>
            </a:r>
            <a:r>
              <a:rPr sz="1100" spc="-20" dirty="0"/>
              <a:t> </a:t>
            </a:r>
            <a:r>
              <a:rPr sz="1100" b="0" dirty="0">
                <a:latin typeface="Microsoft Sans Serif"/>
                <a:cs typeface="Microsoft Sans Serif"/>
              </a:rPr>
              <a:t>provides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schema </a:t>
            </a:r>
            <a:r>
              <a:rPr sz="1100" b="0" dirty="0">
                <a:latin typeface="Microsoft Sans Serif"/>
                <a:cs typeface="Microsoft Sans Serif"/>
              </a:rPr>
              <a:t>validation,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data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modeling,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efficient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database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interactions.</a:t>
            </a:r>
            <a:r>
              <a:rPr sz="1100" b="0" spc="-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secure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user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information</a:t>
            </a:r>
            <a:r>
              <a:rPr sz="1100" b="0" spc="-25" dirty="0">
                <a:latin typeface="Microsoft Sans Serif"/>
                <a:cs typeface="Microsoft Sans Serif"/>
              </a:rPr>
              <a:t> and </a:t>
            </a:r>
            <a:r>
              <a:rPr sz="1100" b="0" dirty="0">
                <a:latin typeface="Microsoft Sans Serif"/>
                <a:cs typeface="Microsoft Sans Serif"/>
              </a:rPr>
              <a:t>protected</a:t>
            </a:r>
            <a:r>
              <a:rPr sz="1100" b="0" spc="155" dirty="0">
                <a:latin typeface="Microsoft Sans Serif"/>
                <a:cs typeface="Microsoft Sans Serif"/>
              </a:rPr>
              <a:t>  </a:t>
            </a:r>
            <a:r>
              <a:rPr sz="1100" b="0" dirty="0">
                <a:latin typeface="Microsoft Sans Serif"/>
                <a:cs typeface="Microsoft Sans Serif"/>
              </a:rPr>
              <a:t>resources,</a:t>
            </a:r>
            <a:r>
              <a:rPr sz="1100" b="0" spc="155" dirty="0">
                <a:latin typeface="Microsoft Sans Serif"/>
                <a:cs typeface="Microsoft Sans Serif"/>
              </a:rPr>
              <a:t> 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160" dirty="0">
                <a:latin typeface="Microsoft Sans Serif"/>
                <a:cs typeface="Microsoft Sans Serif"/>
              </a:rPr>
              <a:t>  </a:t>
            </a:r>
            <a:r>
              <a:rPr sz="1100" b="0" dirty="0">
                <a:latin typeface="Microsoft Sans Serif"/>
                <a:cs typeface="Microsoft Sans Serif"/>
              </a:rPr>
              <a:t>application</a:t>
            </a:r>
            <a:r>
              <a:rPr sz="1100" b="0" spc="155" dirty="0">
                <a:latin typeface="Microsoft Sans Serif"/>
                <a:cs typeface="Microsoft Sans Serif"/>
              </a:rPr>
              <a:t>  </a:t>
            </a:r>
            <a:r>
              <a:rPr sz="1100" b="0" dirty="0">
                <a:latin typeface="Microsoft Sans Serif"/>
                <a:cs typeface="Microsoft Sans Serif"/>
              </a:rPr>
              <a:t>implements</a:t>
            </a:r>
            <a:r>
              <a:rPr sz="1100" b="0" spc="165" dirty="0">
                <a:latin typeface="Microsoft Sans Serif"/>
                <a:cs typeface="Microsoft Sans Serif"/>
              </a:rPr>
              <a:t>  </a:t>
            </a:r>
            <a:r>
              <a:rPr sz="1100" dirty="0"/>
              <a:t>JWT</a:t>
            </a:r>
            <a:r>
              <a:rPr sz="1100" spc="135" dirty="0"/>
              <a:t>  </a:t>
            </a:r>
            <a:r>
              <a:rPr sz="1100" dirty="0"/>
              <a:t>(JSON</a:t>
            </a:r>
            <a:r>
              <a:rPr sz="1100" spc="145" dirty="0"/>
              <a:t>  </a:t>
            </a:r>
            <a:r>
              <a:rPr sz="1100" dirty="0"/>
              <a:t>Web</a:t>
            </a:r>
            <a:r>
              <a:rPr sz="1100" spc="140" dirty="0"/>
              <a:t>  </a:t>
            </a:r>
            <a:r>
              <a:rPr sz="1100" dirty="0"/>
              <a:t>Token)</a:t>
            </a:r>
            <a:r>
              <a:rPr sz="1100" spc="155" dirty="0"/>
              <a:t>  </a:t>
            </a:r>
            <a:r>
              <a:rPr sz="1100" b="0" spc="-10" dirty="0">
                <a:latin typeface="Microsoft Sans Serif"/>
                <a:cs typeface="Microsoft Sans Serif"/>
              </a:rPr>
              <a:t>based </a:t>
            </a:r>
            <a:r>
              <a:rPr sz="1100" b="0" dirty="0">
                <a:latin typeface="Microsoft Sans Serif"/>
                <a:cs typeface="Microsoft Sans Serif"/>
              </a:rPr>
              <a:t>authentication</a:t>
            </a:r>
            <a:r>
              <a:rPr sz="1100" b="0" spc="1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along</a:t>
            </a:r>
            <a:r>
              <a:rPr sz="1100" b="0" spc="17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with</a:t>
            </a:r>
            <a:r>
              <a:rPr sz="1100" b="0" spc="180" dirty="0">
                <a:latin typeface="Microsoft Sans Serif"/>
                <a:cs typeface="Microsoft Sans Serif"/>
              </a:rPr>
              <a:t> </a:t>
            </a:r>
            <a:r>
              <a:rPr sz="1100" spc="-10" dirty="0"/>
              <a:t>Role-</a:t>
            </a:r>
            <a:r>
              <a:rPr sz="1100" dirty="0"/>
              <a:t>Based</a:t>
            </a:r>
            <a:r>
              <a:rPr sz="1100" spc="170" dirty="0"/>
              <a:t> </a:t>
            </a:r>
            <a:r>
              <a:rPr sz="1100" dirty="0"/>
              <a:t>Access</a:t>
            </a:r>
            <a:r>
              <a:rPr sz="1100" spc="165" dirty="0"/>
              <a:t> </a:t>
            </a:r>
            <a:r>
              <a:rPr sz="1100" dirty="0"/>
              <a:t>Control</a:t>
            </a:r>
            <a:r>
              <a:rPr sz="1100" spc="155" dirty="0"/>
              <a:t> </a:t>
            </a:r>
            <a:r>
              <a:rPr sz="1100" dirty="0"/>
              <a:t>(RBAC)</a:t>
            </a:r>
            <a:r>
              <a:rPr sz="1100" b="0" dirty="0">
                <a:latin typeface="Microsoft Sans Serif"/>
                <a:cs typeface="Microsoft Sans Serif"/>
              </a:rPr>
              <a:t>.</a:t>
            </a:r>
            <a:r>
              <a:rPr sz="1100" b="0" spc="18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Users</a:t>
            </a:r>
            <a:r>
              <a:rPr sz="1100" b="0" spc="16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are</a:t>
            </a:r>
            <a:r>
              <a:rPr sz="1100" b="0" spc="16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authenticated </a:t>
            </a:r>
            <a:r>
              <a:rPr sz="1100" b="0" dirty="0">
                <a:latin typeface="Microsoft Sans Serif"/>
                <a:cs typeface="Microsoft Sans Serif"/>
              </a:rPr>
              <a:t>before</a:t>
            </a:r>
            <a:r>
              <a:rPr sz="1100" b="0" spc="3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accessing</a:t>
            </a:r>
            <a:r>
              <a:rPr sz="1100" b="0" spc="35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AI-</a:t>
            </a:r>
            <a:r>
              <a:rPr sz="1100" b="0" dirty="0">
                <a:latin typeface="Microsoft Sans Serif"/>
                <a:cs typeface="Microsoft Sans Serif"/>
              </a:rPr>
              <a:t>powered</a:t>
            </a:r>
            <a:r>
              <a:rPr sz="1100" b="0" spc="3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features,</a:t>
            </a:r>
            <a:r>
              <a:rPr sz="1100" b="0" spc="3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ensuring</a:t>
            </a:r>
            <a:r>
              <a:rPr sz="1100" b="0" spc="3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that</a:t>
            </a:r>
            <a:r>
              <a:rPr sz="1100" b="0" spc="3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only</a:t>
            </a:r>
            <a:r>
              <a:rPr sz="1100" b="0" spc="3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authorized</a:t>
            </a:r>
            <a:r>
              <a:rPr sz="1100" b="0" spc="3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users</a:t>
            </a:r>
            <a:r>
              <a:rPr sz="1100" b="0" spc="3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can</a:t>
            </a:r>
            <a:r>
              <a:rPr sz="1100" b="0" spc="35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utilize </a:t>
            </a:r>
            <a:r>
              <a:rPr sz="1100" b="0" dirty="0">
                <a:latin typeface="Microsoft Sans Serif"/>
                <a:cs typeface="Microsoft Sans Serif"/>
              </a:rPr>
              <a:t>premium</a:t>
            </a:r>
            <a:r>
              <a:rPr sz="1100" b="0" spc="1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learning</a:t>
            </a:r>
            <a:r>
              <a:rPr sz="1100" b="0" spc="1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services.</a:t>
            </a:r>
            <a:r>
              <a:rPr sz="1100" b="0" spc="1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Passwords</a:t>
            </a:r>
            <a:r>
              <a:rPr sz="1100" b="0" spc="1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are</a:t>
            </a:r>
            <a:r>
              <a:rPr sz="1100" b="0" spc="1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securely</a:t>
            </a:r>
            <a:r>
              <a:rPr sz="1100" b="0" spc="1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encrypted</a:t>
            </a:r>
            <a:r>
              <a:rPr sz="1100" b="0" spc="1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using</a:t>
            </a:r>
            <a:r>
              <a:rPr sz="1100" b="0" spc="180" dirty="0">
                <a:latin typeface="Microsoft Sans Serif"/>
                <a:cs typeface="Microsoft Sans Serif"/>
              </a:rPr>
              <a:t> </a:t>
            </a:r>
            <a:r>
              <a:rPr sz="1100" dirty="0"/>
              <a:t>bcryptjs</a:t>
            </a:r>
            <a:r>
              <a:rPr sz="1100" b="0" dirty="0">
                <a:latin typeface="Microsoft Sans Serif"/>
                <a:cs typeface="Microsoft Sans Serif"/>
              </a:rPr>
              <a:t>,</a:t>
            </a:r>
            <a:r>
              <a:rPr sz="1100" b="0" spc="15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preventing </a:t>
            </a:r>
            <a:r>
              <a:rPr sz="1100" b="0" dirty="0">
                <a:latin typeface="Microsoft Sans Serif"/>
                <a:cs typeface="Microsoft Sans Serif"/>
              </a:rPr>
              <a:t>unauthorized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access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user </a:t>
            </a:r>
            <a:r>
              <a:rPr sz="1100" b="0" spc="-10" dirty="0">
                <a:latin typeface="Microsoft Sans Serif"/>
                <a:cs typeface="Microsoft Sans Serif"/>
              </a:rPr>
              <a:t>credentials.</a:t>
            </a:r>
            <a:endParaRPr sz="1100">
              <a:latin typeface="Microsoft Sans Serif"/>
              <a:cs typeface="Microsoft Sans Serif"/>
            </a:endParaRPr>
          </a:p>
          <a:p>
            <a:pPr marL="12700" marR="6985" algn="just">
              <a:lnSpc>
                <a:spcPct val="110500"/>
              </a:lnSpc>
              <a:spcBef>
                <a:spcPts val="1180"/>
              </a:spcBef>
            </a:pPr>
            <a:r>
              <a:rPr sz="1100" b="0" dirty="0">
                <a:latin typeface="Microsoft Sans Serif"/>
                <a:cs typeface="Microsoft Sans Serif"/>
              </a:rPr>
              <a:t>One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of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key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highlights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of</a:t>
            </a:r>
            <a:r>
              <a:rPr sz="1100" b="0" spc="-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AI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StudyBuddy</a:t>
            </a:r>
            <a:r>
              <a:rPr sz="1100" b="0" spc="254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is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its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integration</a:t>
            </a:r>
            <a:r>
              <a:rPr sz="1100" b="0" spc="-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with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dirty="0"/>
              <a:t>Google</a:t>
            </a:r>
            <a:r>
              <a:rPr sz="1100" spc="-30" dirty="0"/>
              <a:t> </a:t>
            </a:r>
            <a:r>
              <a:rPr sz="1100" dirty="0"/>
              <a:t>Gemini</a:t>
            </a:r>
            <a:r>
              <a:rPr sz="1100" spc="-10" dirty="0"/>
              <a:t> </a:t>
            </a:r>
            <a:r>
              <a:rPr sz="1100" dirty="0"/>
              <a:t>AI</a:t>
            </a:r>
            <a:r>
              <a:rPr sz="1100" spc="-5" dirty="0"/>
              <a:t> </a:t>
            </a:r>
            <a:r>
              <a:rPr sz="1100" spc="-20" dirty="0"/>
              <a:t>API</a:t>
            </a:r>
            <a:r>
              <a:rPr sz="1100" b="0" spc="-20" dirty="0">
                <a:latin typeface="Microsoft Sans Serif"/>
                <a:cs typeface="Microsoft Sans Serif"/>
              </a:rPr>
              <a:t>, </a:t>
            </a:r>
            <a:r>
              <a:rPr sz="1100" b="0" spc="-10" dirty="0">
                <a:latin typeface="Microsoft Sans Serif"/>
                <a:cs typeface="Microsoft Sans Serif"/>
              </a:rPr>
              <a:t>which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enables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application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perform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advanced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natural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language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processing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tasks.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Instead </a:t>
            </a:r>
            <a:r>
              <a:rPr sz="1100" b="0" dirty="0">
                <a:latin typeface="Microsoft Sans Serif"/>
                <a:cs typeface="Microsoft Sans Serif"/>
              </a:rPr>
              <a:t>of</a:t>
            </a:r>
            <a:r>
              <a:rPr sz="1100" b="0" spc="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relying</a:t>
            </a:r>
            <a:r>
              <a:rPr sz="1100" b="0" spc="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on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predefined</a:t>
            </a:r>
            <a:r>
              <a:rPr sz="1100" b="0" spc="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templates,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backend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dynamically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communicates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with</a:t>
            </a:r>
            <a:r>
              <a:rPr sz="1100" b="0" spc="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2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Gemini </a:t>
            </a:r>
            <a:r>
              <a:rPr sz="1100" b="0" dirty="0">
                <a:latin typeface="Microsoft Sans Serif"/>
                <a:cs typeface="Microsoft Sans Serif"/>
              </a:rPr>
              <a:t>model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generate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high-</a:t>
            </a:r>
            <a:r>
              <a:rPr sz="1100" b="0" dirty="0">
                <a:latin typeface="Microsoft Sans Serif"/>
                <a:cs typeface="Microsoft Sans Serif"/>
              </a:rPr>
              <a:t>quality</a:t>
            </a:r>
            <a:r>
              <a:rPr sz="1100" b="0" spc="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educational</a:t>
            </a:r>
            <a:r>
              <a:rPr sz="1100" b="0" spc="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content</a:t>
            </a:r>
            <a:r>
              <a:rPr sz="1100" b="0" spc="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based</a:t>
            </a:r>
            <a:r>
              <a:rPr sz="1100" b="0" spc="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on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study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material</a:t>
            </a:r>
            <a:r>
              <a:rPr sz="1100" b="0" spc="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provided</a:t>
            </a:r>
            <a:r>
              <a:rPr sz="1100" b="0" spc="50" dirty="0">
                <a:latin typeface="Microsoft Sans Serif"/>
                <a:cs typeface="Microsoft Sans Serif"/>
              </a:rPr>
              <a:t> </a:t>
            </a:r>
            <a:r>
              <a:rPr sz="1100" b="0" spc="-25" dirty="0">
                <a:latin typeface="Microsoft Sans Serif"/>
                <a:cs typeface="Microsoft Sans Serif"/>
              </a:rPr>
              <a:t>by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1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user.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sz="2300" spc="-10" dirty="0"/>
              <a:t>Scenario-</a:t>
            </a:r>
            <a:r>
              <a:rPr sz="2300" dirty="0"/>
              <a:t>Based</a:t>
            </a:r>
            <a:r>
              <a:rPr sz="2300" spc="15" dirty="0"/>
              <a:t> </a:t>
            </a:r>
            <a:r>
              <a:rPr sz="2300" dirty="0"/>
              <a:t>Case</a:t>
            </a:r>
            <a:r>
              <a:rPr sz="2300" spc="20" dirty="0"/>
              <a:t> </a:t>
            </a:r>
            <a:r>
              <a:rPr sz="2300" spc="-10" dirty="0"/>
              <a:t>Study</a:t>
            </a:r>
            <a:endParaRPr sz="230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spc="-10" dirty="0"/>
              <a:t>Background</a:t>
            </a:r>
            <a:endParaRPr sz="1700"/>
          </a:p>
          <a:p>
            <a:pPr marL="12700" marR="5080" algn="just">
              <a:lnSpc>
                <a:spcPct val="110200"/>
              </a:lnSpc>
              <a:spcBef>
                <a:spcPts val="1330"/>
              </a:spcBef>
            </a:pPr>
            <a:r>
              <a:rPr sz="1100" b="0" dirty="0">
                <a:latin typeface="Microsoft Sans Serif"/>
                <a:cs typeface="Microsoft Sans Serif"/>
              </a:rPr>
              <a:t>Rahul</a:t>
            </a:r>
            <a:r>
              <a:rPr sz="1100" b="0" spc="1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is</a:t>
            </a:r>
            <a:r>
              <a:rPr sz="1100" b="0" spc="1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</a:t>
            </a:r>
            <a:r>
              <a:rPr sz="1100" b="0" spc="15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second-</a:t>
            </a:r>
            <a:r>
              <a:rPr sz="1100" b="0" dirty="0">
                <a:latin typeface="Microsoft Sans Serif"/>
                <a:cs typeface="Microsoft Sans Serif"/>
              </a:rPr>
              <a:t>year</a:t>
            </a:r>
            <a:r>
              <a:rPr sz="1100" b="0" spc="1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engineering</a:t>
            </a:r>
            <a:r>
              <a:rPr sz="1100" b="0" spc="15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student</a:t>
            </a:r>
            <a:r>
              <a:rPr sz="1100" b="0" spc="1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preparing</a:t>
            </a:r>
            <a:r>
              <a:rPr sz="1100" b="0" spc="1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for</a:t>
            </a:r>
            <a:r>
              <a:rPr sz="1100" b="0" spc="1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multiple</a:t>
            </a:r>
            <a:r>
              <a:rPr sz="1100" b="0" spc="14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semester</a:t>
            </a:r>
            <a:r>
              <a:rPr sz="1100" b="0" spc="1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examinations while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simultaneously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learning</a:t>
            </a:r>
            <a:r>
              <a:rPr sz="1100" b="0" spc="-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new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technical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skills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for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internships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placement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opportunities. </a:t>
            </a:r>
            <a:r>
              <a:rPr sz="1100" b="0" dirty="0">
                <a:latin typeface="Microsoft Sans Serif"/>
                <a:cs typeface="Microsoft Sans Serif"/>
              </a:rPr>
              <a:t>His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study</a:t>
            </a:r>
            <a:r>
              <a:rPr sz="1100" b="0" spc="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materials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are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scattered</a:t>
            </a:r>
            <a:r>
              <a:rPr sz="1100" b="0" spc="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across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lecture</a:t>
            </a:r>
            <a:r>
              <a:rPr sz="1100" b="0" spc="5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notes,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PDFs,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textbooks,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online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articles,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spc="-25" dirty="0">
                <a:latin typeface="Microsoft Sans Serif"/>
                <a:cs typeface="Microsoft Sans Serif"/>
              </a:rPr>
              <a:t>and </a:t>
            </a:r>
            <a:r>
              <a:rPr sz="1100" b="0" spc="-10" dirty="0">
                <a:latin typeface="Microsoft Sans Serif"/>
                <a:cs typeface="Microsoft Sans Serif"/>
              </a:rPr>
              <a:t>handwritten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notes,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making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it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difficult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-4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organize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revise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effectively.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Due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-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the</a:t>
            </a:r>
            <a:r>
              <a:rPr sz="1100" b="0" spc="-5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large</a:t>
            </a:r>
            <a:r>
              <a:rPr sz="1100" b="0" spc="-40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volume </a:t>
            </a:r>
            <a:r>
              <a:rPr sz="1100" b="0" dirty="0">
                <a:latin typeface="Microsoft Sans Serif"/>
                <a:cs typeface="Microsoft Sans Serif"/>
              </a:rPr>
              <a:t>of</a:t>
            </a:r>
            <a:r>
              <a:rPr sz="1100" b="0" spc="4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content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limited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preparation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time,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Rahul</a:t>
            </a:r>
            <a:r>
              <a:rPr sz="1100" b="0" spc="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often</a:t>
            </a:r>
            <a:r>
              <a:rPr sz="1100" b="0" spc="3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struggles</a:t>
            </a:r>
            <a:r>
              <a:rPr sz="1100" b="0" spc="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identify</a:t>
            </a:r>
            <a:r>
              <a:rPr sz="1100" b="0" spc="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important</a:t>
            </a:r>
            <a:r>
              <a:rPr sz="1100" b="0" spc="3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concepts, </a:t>
            </a:r>
            <a:r>
              <a:rPr sz="1100" b="0" dirty="0">
                <a:latin typeface="Microsoft Sans Serif"/>
                <a:cs typeface="Microsoft Sans Serif"/>
              </a:rPr>
              <a:t>create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revision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notes,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evaluate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his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understanding</a:t>
            </a:r>
            <a:r>
              <a:rPr sz="1100" b="0" spc="-1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before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examinations.</a:t>
            </a:r>
            <a:endParaRPr sz="1100">
              <a:latin typeface="Microsoft Sans Serif"/>
              <a:cs typeface="Microsoft Sans Serif"/>
            </a:endParaRPr>
          </a:p>
          <a:p>
            <a:pPr marL="12700" marR="5715" algn="just">
              <a:lnSpc>
                <a:spcPct val="110000"/>
              </a:lnSpc>
              <a:spcBef>
                <a:spcPts val="1205"/>
              </a:spcBef>
            </a:pPr>
            <a:r>
              <a:rPr sz="1100" b="0" dirty="0">
                <a:latin typeface="Microsoft Sans Serif"/>
                <a:cs typeface="Microsoft Sans Serif"/>
              </a:rPr>
              <a:t>Traditional</a:t>
            </a:r>
            <a:r>
              <a:rPr sz="1100" b="0" spc="8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study</a:t>
            </a:r>
            <a:r>
              <a:rPr sz="1100" b="0" spc="7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methods</a:t>
            </a:r>
            <a:r>
              <a:rPr sz="1100" b="0" spc="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require</a:t>
            </a:r>
            <a:r>
              <a:rPr sz="1100" b="0" spc="8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significant</a:t>
            </a:r>
            <a:r>
              <a:rPr sz="1100" b="0" spc="7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manual</a:t>
            </a:r>
            <a:r>
              <a:rPr sz="1100" b="0" spc="9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effort</a:t>
            </a:r>
            <a:r>
              <a:rPr sz="1100" b="0" spc="8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to</a:t>
            </a:r>
            <a:r>
              <a:rPr sz="1100" b="0" spc="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summarize</a:t>
            </a:r>
            <a:r>
              <a:rPr sz="1100" b="0" spc="9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lengthy</a:t>
            </a:r>
            <a:r>
              <a:rPr sz="1100" b="0" spc="8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materials, </a:t>
            </a:r>
            <a:r>
              <a:rPr sz="1100" b="0" dirty="0">
                <a:latin typeface="Microsoft Sans Serif"/>
                <a:cs typeface="Microsoft Sans Serif"/>
              </a:rPr>
              <a:t>prepare practice questions, and create revision schedules. This process is repetitive, </a:t>
            </a:r>
            <a:r>
              <a:rPr sz="1100" b="0" spc="-10" dirty="0">
                <a:latin typeface="Microsoft Sans Serif"/>
                <a:cs typeface="Microsoft Sans Serif"/>
              </a:rPr>
              <a:t>time-</a:t>
            </a:r>
            <a:r>
              <a:rPr sz="1100" b="0" dirty="0">
                <a:latin typeface="Microsoft Sans Serif"/>
                <a:cs typeface="Microsoft Sans Serif"/>
              </a:rPr>
              <a:t>consuming,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and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often</a:t>
            </a:r>
            <a:r>
              <a:rPr sz="1100" b="0" spc="-3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results</a:t>
            </a:r>
            <a:r>
              <a:rPr sz="1100" b="0" spc="-20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in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inconsistent</a:t>
            </a:r>
            <a:r>
              <a:rPr sz="1100" b="0" spc="-25" dirty="0">
                <a:latin typeface="Microsoft Sans Serif"/>
                <a:cs typeface="Microsoft Sans Serif"/>
              </a:rPr>
              <a:t> </a:t>
            </a:r>
            <a:r>
              <a:rPr sz="1100" b="0" dirty="0">
                <a:latin typeface="Microsoft Sans Serif"/>
                <a:cs typeface="Microsoft Sans Serif"/>
              </a:rPr>
              <a:t>learning</a:t>
            </a:r>
            <a:r>
              <a:rPr sz="1100" b="0" spc="-15" dirty="0">
                <a:latin typeface="Microsoft Sans Serif"/>
                <a:cs typeface="Microsoft Sans Serif"/>
              </a:rPr>
              <a:t> </a:t>
            </a:r>
            <a:r>
              <a:rPr sz="1100" b="0" spc="-10" dirty="0">
                <a:latin typeface="Microsoft Sans Serif"/>
                <a:cs typeface="Microsoft Sans Serif"/>
              </a:rPr>
              <a:t>outcomes.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00301"/>
            <a:ext cx="5761990" cy="834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Arial"/>
                <a:cs typeface="Arial"/>
              </a:rPr>
              <a:t>Problem</a:t>
            </a:r>
            <a:endParaRPr sz="17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455"/>
              </a:spcBef>
            </a:pPr>
            <a:r>
              <a:rPr sz="1100" dirty="0">
                <a:latin typeface="Microsoft Sans Serif"/>
                <a:cs typeface="Microsoft Sans Serif"/>
              </a:rPr>
              <a:t>Rahul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encounters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several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challenges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during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his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preparation: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Difficulty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understanding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lengthy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within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limited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time.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Manual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preparation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notes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consumes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significant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amount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 </a:t>
            </a:r>
            <a:r>
              <a:rPr sz="1100" spc="-10" dirty="0">
                <a:latin typeface="Microsoft Sans Serif"/>
                <a:cs typeface="Microsoft Sans Serif"/>
              </a:rPr>
              <a:t>time.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Creating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revision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questions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repetitive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0" dirty="0">
                <a:latin typeface="Microsoft Sans Serif"/>
                <a:cs typeface="Microsoft Sans Serif"/>
              </a:rPr>
              <a:t> labor-intensive.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Lack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personalized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-10" dirty="0">
                <a:latin typeface="Microsoft Sans Serif"/>
                <a:cs typeface="Microsoft Sans Serif"/>
              </a:rPr>
              <a:t> available </a:t>
            </a:r>
            <a:r>
              <a:rPr sz="1100" dirty="0">
                <a:latin typeface="Microsoft Sans Serif"/>
                <a:cs typeface="Microsoft Sans Serif"/>
              </a:rPr>
              <a:t>time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0" dirty="0">
                <a:latin typeface="Microsoft Sans Serif"/>
                <a:cs typeface="Microsoft Sans Serif"/>
              </a:rPr>
              <a:t> examination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schedules.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No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centralized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platform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securely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store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10" dirty="0">
                <a:latin typeface="Microsoft Sans Serif"/>
                <a:cs typeface="Microsoft Sans Serif"/>
              </a:rPr>
              <a:t> resources.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Difficulty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assessing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knowledge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self-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quizzes.</a:t>
            </a:r>
            <a:endParaRPr sz="1100">
              <a:latin typeface="Microsoft Sans Serif"/>
              <a:cs typeface="Microsoft Sans Serif"/>
            </a:endParaRPr>
          </a:p>
          <a:p>
            <a:pPr marL="469265" marR="8255" indent="-228600">
              <a:lnSpc>
                <a:spcPct val="11000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Switching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between</a:t>
            </a:r>
            <a:r>
              <a:rPr sz="1100" spc="28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multiple</a:t>
            </a:r>
            <a:r>
              <a:rPr sz="1100" spc="2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applications</a:t>
            </a:r>
            <a:r>
              <a:rPr sz="1100" spc="2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2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note-</a:t>
            </a:r>
            <a:r>
              <a:rPr sz="1100" dirty="0">
                <a:latin typeface="Microsoft Sans Serif"/>
                <a:cs typeface="Microsoft Sans Serif"/>
              </a:rPr>
              <a:t>taking,</a:t>
            </a:r>
            <a:r>
              <a:rPr sz="1100" spc="2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quizzes,</a:t>
            </a:r>
            <a:r>
              <a:rPr sz="1100" spc="28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27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scheduling </a:t>
            </a:r>
            <a:r>
              <a:rPr sz="1100" dirty="0">
                <a:latin typeface="Microsoft Sans Serif"/>
                <a:cs typeface="Microsoft Sans Serif"/>
              </a:rPr>
              <a:t>reduces</a:t>
            </a:r>
            <a:r>
              <a:rPr sz="1100" spc="-10" dirty="0">
                <a:latin typeface="Microsoft Sans Serif"/>
                <a:cs typeface="Microsoft Sans Serif"/>
              </a:rPr>
              <a:t> productivity.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Microsoft Sans Serif"/>
              <a:buChar char="●"/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700" b="1" spc="-10" dirty="0">
                <a:latin typeface="Arial"/>
                <a:cs typeface="Arial"/>
              </a:rPr>
              <a:t>Solution</a:t>
            </a:r>
            <a:endParaRPr sz="1700">
              <a:latin typeface="Arial"/>
              <a:cs typeface="Arial"/>
            </a:endParaRPr>
          </a:p>
          <a:p>
            <a:pPr marL="12700" marR="5715" algn="just">
              <a:lnSpc>
                <a:spcPct val="110400"/>
              </a:lnSpc>
              <a:spcBef>
                <a:spcPts val="1290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95" dirty="0"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1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StudyBuddy</a:t>
            </a:r>
            <a:r>
              <a:rPr sz="1100" b="1" spc="175" dirty="0">
                <a:latin typeface="Arial"/>
                <a:cs typeface="Arial"/>
              </a:rPr>
              <a:t> 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1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provides</a:t>
            </a:r>
            <a:r>
              <a:rPr sz="1100" spc="1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1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centralized,</a:t>
            </a:r>
            <a:r>
              <a:rPr sz="1100" spc="1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AI-powered</a:t>
            </a:r>
            <a:r>
              <a:rPr sz="1100" spc="1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1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platform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that </a:t>
            </a:r>
            <a:r>
              <a:rPr sz="1100" spc="-10" dirty="0">
                <a:latin typeface="Microsoft Sans Serif"/>
                <a:cs typeface="Microsoft Sans Serif"/>
              </a:rPr>
              <a:t>automates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several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academic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tasks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through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intelligent content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generation.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enables </a:t>
            </a:r>
            <a:r>
              <a:rPr sz="1100" dirty="0">
                <a:latin typeface="Microsoft Sans Serif"/>
                <a:cs typeface="Microsoft Sans Serif"/>
              </a:rPr>
              <a:t>authenticated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enter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leverage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Google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Gemini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AI </a:t>
            </a:r>
            <a:r>
              <a:rPr sz="1100" b="1" dirty="0">
                <a:latin typeface="Arial"/>
                <a:cs typeface="Arial"/>
              </a:rPr>
              <a:t>API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educational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automatically.</a:t>
            </a:r>
            <a:endParaRPr sz="1100">
              <a:latin typeface="Microsoft Sans Serif"/>
              <a:cs typeface="Microsoft Sans Serif"/>
            </a:endParaRPr>
          </a:p>
          <a:p>
            <a:pPr marL="12700" marR="6350" algn="just">
              <a:lnSpc>
                <a:spcPct val="110000"/>
              </a:lnSpc>
              <a:spcBef>
                <a:spcPts val="1210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processes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incoming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requests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RESTful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APIs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performs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the </a:t>
            </a:r>
            <a:r>
              <a:rPr sz="1100" dirty="0">
                <a:latin typeface="Microsoft Sans Serif"/>
                <a:cs typeface="Microsoft Sans Serif"/>
              </a:rPr>
              <a:t>following</a:t>
            </a:r>
            <a:r>
              <a:rPr sz="1100" spc="-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operations: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Authenticates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JWT-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security.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information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-10" dirty="0">
                <a:latin typeface="Microsoft Sans Serif"/>
                <a:cs typeface="Microsoft Sans Serif"/>
              </a:rPr>
              <a:t> MongoDB.</a:t>
            </a:r>
            <a:endParaRPr sz="1100">
              <a:latin typeface="Microsoft Sans Serif"/>
              <a:cs typeface="Microsoft Sans Serif"/>
            </a:endParaRPr>
          </a:p>
          <a:p>
            <a:pPr marL="469265" marR="6350" indent="-228600">
              <a:lnSpc>
                <a:spcPct val="11000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Sends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content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Google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Gemini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model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dedicated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service modules.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Generates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concise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summaries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faster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revision.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Creates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active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recall</a:t>
            </a:r>
            <a:r>
              <a:rPr sz="1100" spc="-10" dirty="0">
                <a:latin typeface="Microsoft Sans Serif"/>
                <a:cs typeface="Microsoft Sans Serif"/>
              </a:rPr>
              <a:t> learning.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Produces</a:t>
            </a:r>
            <a:r>
              <a:rPr sz="1100" spc="-10" dirty="0">
                <a:latin typeface="Microsoft Sans Serif"/>
                <a:cs typeface="Microsoft Sans Serif"/>
              </a:rPr>
              <a:t> multiple-</a:t>
            </a:r>
            <a:r>
              <a:rPr sz="1100" dirty="0">
                <a:latin typeface="Microsoft Sans Serif"/>
                <a:cs typeface="Microsoft Sans Serif"/>
              </a:rPr>
              <a:t>choice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 for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self-assessment.</a:t>
            </a:r>
            <a:endParaRPr sz="1100">
              <a:latin typeface="Microsoft Sans Serif"/>
              <a:cs typeface="Microsoft Sans Serif"/>
            </a:endParaRPr>
          </a:p>
          <a:p>
            <a:pPr marL="469265" marR="8890" indent="-228600">
              <a:lnSpc>
                <a:spcPct val="11000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Generates</a:t>
            </a:r>
            <a:r>
              <a:rPr sz="1100" spc="2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2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2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2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2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2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preferences</a:t>
            </a:r>
            <a:r>
              <a:rPr sz="1100" spc="2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2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examination timelines.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future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retrieval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continuous</a:t>
            </a:r>
            <a:r>
              <a:rPr sz="1100" spc="-10" dirty="0">
                <a:latin typeface="Microsoft Sans Serif"/>
                <a:cs typeface="Microsoft Sans Serif"/>
              </a:rPr>
              <a:t> learning.</a:t>
            </a:r>
            <a:endParaRPr sz="1100">
              <a:latin typeface="Microsoft Sans Serif"/>
              <a:cs typeface="Microsoft Sans Serif"/>
            </a:endParaRPr>
          </a:p>
          <a:p>
            <a:pPr marL="12700" marR="8255" algn="just">
              <a:lnSpc>
                <a:spcPct val="110000"/>
              </a:lnSpc>
              <a:spcBef>
                <a:spcPts val="1215"/>
              </a:spcBef>
            </a:pPr>
            <a:r>
              <a:rPr sz="1100" dirty="0">
                <a:latin typeface="Microsoft Sans Serif"/>
                <a:cs typeface="Microsoft Sans Serif"/>
              </a:rPr>
              <a:t>By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separating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authentication,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business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logic,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database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operations,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processing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into </a:t>
            </a:r>
            <a:r>
              <a:rPr sz="1100" dirty="0">
                <a:latin typeface="Microsoft Sans Serif"/>
                <a:cs typeface="Microsoft Sans Serif"/>
              </a:rPr>
              <a:t>modular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components,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ensures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maintainability,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scalability,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efficient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request handling.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700" b="1" spc="-10" dirty="0">
                <a:latin typeface="Arial"/>
                <a:cs typeface="Arial"/>
              </a:rPr>
              <a:t>Usage</a:t>
            </a:r>
            <a:endParaRPr sz="17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835"/>
              </a:spcBef>
            </a:pPr>
            <a:r>
              <a:rPr sz="1300" b="1" dirty="0">
                <a:latin typeface="Arial"/>
                <a:cs typeface="Arial"/>
              </a:rPr>
              <a:t>Student</a:t>
            </a:r>
            <a:r>
              <a:rPr sz="1300" b="1" spc="-7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Usage</a:t>
            </a:r>
            <a:endParaRPr sz="1300">
              <a:latin typeface="Arial"/>
              <a:cs typeface="Arial"/>
            </a:endParaRPr>
          </a:p>
          <a:p>
            <a:pPr marL="12700" marR="5080" algn="just">
              <a:lnSpc>
                <a:spcPct val="110000"/>
              </a:lnSpc>
              <a:spcBef>
                <a:spcPts val="640"/>
              </a:spcBef>
            </a:pP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register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application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before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accessing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AI-powered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features. </a:t>
            </a:r>
            <a:r>
              <a:rPr sz="1100" dirty="0">
                <a:latin typeface="Microsoft Sans Serif"/>
                <a:cs typeface="Microsoft Sans Serif"/>
              </a:rPr>
              <a:t>After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authentication,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they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provide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textual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content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choose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the </a:t>
            </a:r>
            <a:r>
              <a:rPr sz="1100" dirty="0">
                <a:latin typeface="Microsoft Sans Serif"/>
                <a:cs typeface="Microsoft Sans Serif"/>
              </a:rPr>
              <a:t>desired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functionality,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such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generating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summaries,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quizzes,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flashcards,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personalized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3607"/>
            <a:ext cx="5761355" cy="8238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0900"/>
              </a:lnSpc>
              <a:spcBef>
                <a:spcPts val="100"/>
              </a:spcBef>
            </a:pP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2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plans.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content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be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reviewed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immediately</a:t>
            </a:r>
            <a:r>
              <a:rPr sz="1100" spc="2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2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stored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future reference.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latin typeface="Arial"/>
                <a:cs typeface="Arial"/>
              </a:rPr>
              <a:t>Administrator</a:t>
            </a:r>
            <a:r>
              <a:rPr sz="1300" b="1" spc="-7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Usage</a:t>
            </a:r>
            <a:endParaRPr sz="1300">
              <a:latin typeface="Arial"/>
              <a:cs typeface="Arial"/>
            </a:endParaRPr>
          </a:p>
          <a:p>
            <a:pPr marL="12700" marR="5715" algn="just">
              <a:lnSpc>
                <a:spcPct val="110300"/>
              </a:lnSpc>
              <a:spcBef>
                <a:spcPts val="640"/>
              </a:spcBef>
            </a:pPr>
            <a:r>
              <a:rPr sz="1100" dirty="0">
                <a:latin typeface="Microsoft Sans Serif"/>
                <a:cs typeface="Microsoft Sans Serif"/>
              </a:rPr>
              <a:t>Administrators manage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registered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users, monitor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activity,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oversee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 </a:t>
            </a:r>
            <a:r>
              <a:rPr sz="1100" spc="-10" dirty="0">
                <a:latin typeface="Microsoft Sans Serif"/>
                <a:cs typeface="Microsoft Sans Serif"/>
              </a:rPr>
              <a:t>usage,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maintain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platform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integrity.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Administrative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privileges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include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managing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accounts, </a:t>
            </a:r>
            <a:r>
              <a:rPr sz="1100" dirty="0">
                <a:latin typeface="Microsoft Sans Serif"/>
                <a:cs typeface="Microsoft Sans Serif"/>
              </a:rPr>
              <a:t>monitoring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service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utilization,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reviewing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logs,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ensuring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smooth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backend operations.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700" b="1" spc="-10" dirty="0">
                <a:latin typeface="Arial"/>
                <a:cs typeface="Arial"/>
              </a:rPr>
              <a:t>Outcome</a:t>
            </a:r>
            <a:endParaRPr sz="1700">
              <a:latin typeface="Arial"/>
              <a:cs typeface="Arial"/>
            </a:endParaRPr>
          </a:p>
          <a:p>
            <a:pPr marL="12700" marR="7620" algn="just">
              <a:lnSpc>
                <a:spcPct val="110300"/>
              </a:lnSpc>
              <a:spcBef>
                <a:spcPts val="120"/>
              </a:spcBef>
            </a:pPr>
            <a:r>
              <a:rPr sz="1100" dirty="0">
                <a:latin typeface="Microsoft Sans Serif"/>
                <a:cs typeface="Microsoft Sans Serif"/>
              </a:rPr>
              <a:t>By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integrating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artificial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intelligence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architecture,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StudyBuddy </a:t>
            </a:r>
            <a:r>
              <a:rPr sz="1100" dirty="0">
                <a:latin typeface="Microsoft Sans Serif"/>
                <a:cs typeface="Microsoft Sans Serif"/>
              </a:rPr>
              <a:t>significantly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improves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3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3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experience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students.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Manual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preparation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time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is </a:t>
            </a:r>
            <a:r>
              <a:rPr sz="1100" dirty="0">
                <a:latin typeface="Microsoft Sans Serif"/>
                <a:cs typeface="Microsoft Sans Serif"/>
              </a:rPr>
              <a:t>reduced</a:t>
            </a:r>
            <a:r>
              <a:rPr sz="1100" spc="4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automated</a:t>
            </a:r>
            <a:r>
              <a:rPr sz="1100" spc="43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content</a:t>
            </a:r>
            <a:r>
              <a:rPr sz="1100" spc="4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generation,</a:t>
            </a:r>
            <a:r>
              <a:rPr sz="1100" spc="4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allowing</a:t>
            </a:r>
            <a:r>
              <a:rPr sz="1100" spc="4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4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focus</a:t>
            </a:r>
            <a:r>
              <a:rPr sz="1100" spc="43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more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on </a:t>
            </a:r>
            <a:r>
              <a:rPr sz="1100" dirty="0">
                <a:latin typeface="Microsoft Sans Serif"/>
                <a:cs typeface="Microsoft Sans Serif"/>
              </a:rPr>
              <a:t>understanding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concepts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rather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than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organizing study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materials.</a:t>
            </a:r>
            <a:endParaRPr sz="11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10200"/>
              </a:lnSpc>
              <a:spcBef>
                <a:spcPts val="119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0" dirty="0">
                <a:latin typeface="Microsoft Sans Serif"/>
                <a:cs typeface="Microsoft Sans Serif"/>
              </a:rPr>
              <a:t> implementation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JWT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authentication,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MongoDB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management,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Google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Gemini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integration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ensures</a:t>
            </a:r>
            <a:r>
              <a:rPr sz="1100" spc="1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that</a:t>
            </a:r>
            <a:r>
              <a:rPr sz="1100" spc="1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educational</a:t>
            </a:r>
            <a:r>
              <a:rPr sz="1100" spc="1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are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1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securely,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efficiently,</a:t>
            </a:r>
            <a:r>
              <a:rPr sz="1100" spc="18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and </a:t>
            </a:r>
            <a:r>
              <a:rPr sz="1100" dirty="0">
                <a:latin typeface="Microsoft Sans Serif"/>
                <a:cs typeface="Microsoft Sans Serif"/>
              </a:rPr>
              <a:t>consistently.</a:t>
            </a:r>
            <a:r>
              <a:rPr sz="1100" spc="3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3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modular</a:t>
            </a:r>
            <a:r>
              <a:rPr sz="1100" spc="3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3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architecture</a:t>
            </a:r>
            <a:r>
              <a:rPr sz="1100" spc="3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further</a:t>
            </a:r>
            <a:r>
              <a:rPr sz="1100" spc="3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supports</a:t>
            </a:r>
            <a:r>
              <a:rPr sz="1100" spc="3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future</a:t>
            </a:r>
            <a:r>
              <a:rPr sz="1100" spc="38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enhancements, enabling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additional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AI-powered learning capabilities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integrated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with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minimal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architectural changes.</a:t>
            </a:r>
            <a:endParaRPr sz="1100">
              <a:latin typeface="Microsoft Sans Serif"/>
              <a:cs typeface="Microsoft Sans Serif"/>
            </a:endParaRPr>
          </a:p>
          <a:p>
            <a:pPr marL="12700" marR="8255" algn="just">
              <a:lnSpc>
                <a:spcPct val="110500"/>
              </a:lnSpc>
              <a:spcBef>
                <a:spcPts val="1195"/>
              </a:spcBef>
            </a:pP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result,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StudyBuddy</a:t>
            </a:r>
            <a:r>
              <a:rPr sz="1100" spc="125" dirty="0">
                <a:latin typeface="Microsoft Sans Serif"/>
                <a:cs typeface="Microsoft Sans Serif"/>
              </a:rPr>
              <a:t>  </a:t>
            </a:r>
            <a:r>
              <a:rPr sz="1100" dirty="0">
                <a:latin typeface="Microsoft Sans Serif"/>
                <a:cs typeface="Microsoft Sans Serif"/>
              </a:rPr>
              <a:t>serves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scalable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intelligent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educational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platform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that </a:t>
            </a:r>
            <a:r>
              <a:rPr sz="1100" dirty="0">
                <a:latin typeface="Microsoft Sans Serif"/>
                <a:cs typeface="Microsoft Sans Serif"/>
              </a:rPr>
              <a:t>enhances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productivity,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promotes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effective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revision,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supports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for </a:t>
            </a: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preparing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academic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examinations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competitive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assessments.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Software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Requirements</a:t>
            </a:r>
            <a:endParaRPr sz="1300">
              <a:latin typeface="Arial"/>
              <a:cs typeface="Arial"/>
            </a:endParaRPr>
          </a:p>
          <a:p>
            <a:pPr marL="469265" marR="383540" indent="-228600">
              <a:lnSpc>
                <a:spcPct val="111800"/>
              </a:lnSpc>
              <a:spcBef>
                <a:spcPts val="39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Operating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System: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Windows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10/11, macOS,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Linux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(supports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cross-platform operations).</a:t>
            </a:r>
            <a:endParaRPr sz="1100">
              <a:latin typeface="Microsoft Sans Serif"/>
              <a:cs typeface="Microsoft Sans Serif"/>
            </a:endParaRPr>
          </a:p>
          <a:p>
            <a:pPr marL="469265" marR="485775" indent="-228600">
              <a:lnSpc>
                <a:spcPts val="1460"/>
              </a:lnSpc>
              <a:spcBef>
                <a:spcPts val="5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Node.js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(v16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above):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Runtime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ecosystem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running server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logic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routing infrastructure.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npm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(v8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above):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Node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package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control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operational</a:t>
            </a:r>
            <a:r>
              <a:rPr sz="1100" spc="-10" dirty="0">
                <a:latin typeface="Microsoft Sans Serif"/>
                <a:cs typeface="Microsoft Sans Serif"/>
              </a:rPr>
              <a:t> dependencies.</a:t>
            </a:r>
            <a:endParaRPr sz="1100">
              <a:latin typeface="Microsoft Sans Serif"/>
              <a:cs typeface="Microsoft Sans Serif"/>
            </a:endParaRPr>
          </a:p>
          <a:p>
            <a:pPr marL="469265" marR="104775" indent="-228600">
              <a:lnSpc>
                <a:spcPts val="1470"/>
              </a:lnSpc>
              <a:spcBef>
                <a:spcPts val="7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Express.js: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Lightweight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routing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web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framework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construct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RESTful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entry points.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4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MongoDB: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Document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NoSQL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engine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storing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users,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posts,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categories,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comments,</a:t>
            </a:r>
            <a:endParaRPr sz="1100">
              <a:latin typeface="Microsoft Sans Serif"/>
              <a:cs typeface="Microsoft Sans Serif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analytics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metrics.</a:t>
            </a:r>
            <a:endParaRPr sz="1100">
              <a:latin typeface="Microsoft Sans Serif"/>
              <a:cs typeface="Microsoft Sans Serif"/>
            </a:endParaRPr>
          </a:p>
          <a:p>
            <a:pPr marL="469265" marR="406400" indent="-228600">
              <a:lnSpc>
                <a:spcPts val="1480"/>
              </a:lnSpc>
              <a:spcBef>
                <a:spcPts val="3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Postman: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verification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toolkit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assert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schema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validation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responses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across </a:t>
            </a:r>
            <a:r>
              <a:rPr sz="1100" dirty="0">
                <a:latin typeface="Microsoft Sans Serif"/>
                <a:cs typeface="Microsoft Sans Serif"/>
              </a:rPr>
              <a:t>administrative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route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shields.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4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Code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Editor: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Visual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Studio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Code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similar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IDE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environment.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Microsoft Sans Serif"/>
              <a:buChar char="●"/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Hardware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Requirements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Processor: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Core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i5 (8th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 or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above)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/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AMD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Ryzen 5 or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equivalent.</a:t>
            </a:r>
            <a:endParaRPr sz="1100">
              <a:latin typeface="Microsoft Sans Serif"/>
              <a:cs typeface="Microsoft Sans Serif"/>
            </a:endParaRPr>
          </a:p>
          <a:p>
            <a:pPr marL="469265" marR="162560" indent="-228600">
              <a:lnSpc>
                <a:spcPts val="1460"/>
              </a:lnSpc>
              <a:spcBef>
                <a:spcPts val="6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RAM: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8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GB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minimum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(16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GB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recommended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concurrent instances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10" dirty="0">
                <a:latin typeface="Microsoft Sans Serif"/>
                <a:cs typeface="Microsoft Sans Serif"/>
              </a:rPr>
              <a:t> MongoDB, </a:t>
            </a:r>
            <a:r>
              <a:rPr sz="1100" dirty="0">
                <a:latin typeface="Microsoft Sans Serif"/>
                <a:cs typeface="Microsoft Sans Serif"/>
              </a:rPr>
              <a:t>processing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layers,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execution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nodes).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5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Storage: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1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GB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 available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disk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workspace.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636521"/>
            <a:ext cx="28568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Epic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1: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Project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Architecture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55" y="2185923"/>
            <a:ext cx="5712219" cy="38224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6141186"/>
            <a:ext cx="5761990" cy="32861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6985" algn="just">
              <a:lnSpc>
                <a:spcPct val="110500"/>
              </a:lnSpc>
              <a:spcBef>
                <a:spcPts val="114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StudyBuddy</a:t>
            </a:r>
            <a:r>
              <a:rPr sz="1100" b="1" spc="40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follows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modular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RESTful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architecture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designed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provide </a:t>
            </a:r>
            <a:r>
              <a:rPr sz="1100" dirty="0">
                <a:latin typeface="Microsoft Sans Serif"/>
                <a:cs typeface="Microsoft Sans Serif"/>
              </a:rPr>
              <a:t>secure,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scalable,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powered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services.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processes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client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requests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Express.js,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validates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JWT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authentication,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interacts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MongoDB </a:t>
            </a:r>
            <a:r>
              <a:rPr sz="1100" dirty="0">
                <a:latin typeface="Microsoft Sans Serif"/>
                <a:cs typeface="Microsoft Sans Serif"/>
              </a:rPr>
              <a:t>database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storage,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communicates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Google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Gemini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generate </a:t>
            </a:r>
            <a:r>
              <a:rPr sz="1100" dirty="0">
                <a:latin typeface="Microsoft Sans Serif"/>
                <a:cs typeface="Microsoft Sans Serif"/>
              </a:rPr>
              <a:t>intelligent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resources.</a:t>
            </a:r>
            <a:endParaRPr sz="1100">
              <a:latin typeface="Microsoft Sans Serif"/>
              <a:cs typeface="Microsoft Sans Serif"/>
            </a:endParaRPr>
          </a:p>
          <a:p>
            <a:pPr marL="12700" marR="6350" algn="just">
              <a:lnSpc>
                <a:spcPct val="110000"/>
              </a:lnSpc>
              <a:spcBef>
                <a:spcPts val="1210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4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architecture</a:t>
            </a:r>
            <a:r>
              <a:rPr sz="1100" spc="4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separates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authentication,</a:t>
            </a:r>
            <a:r>
              <a:rPr sz="1100" spc="43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business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logic,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4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services,</a:t>
            </a:r>
            <a:r>
              <a:rPr sz="1100" spc="4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4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database </a:t>
            </a:r>
            <a:r>
              <a:rPr sz="1100" dirty="0">
                <a:latin typeface="Microsoft Sans Serif"/>
                <a:cs typeface="Microsoft Sans Serif"/>
              </a:rPr>
              <a:t>operations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into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independent modules, making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easier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maintain, extend,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and </a:t>
            </a:r>
            <a:r>
              <a:rPr sz="1100" spc="-10" dirty="0">
                <a:latin typeface="Microsoft Sans Serif"/>
                <a:cs typeface="Microsoft Sans Serif"/>
              </a:rPr>
              <a:t>debug.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Arial"/>
                <a:cs typeface="Arial"/>
              </a:rPr>
              <a:t>Components</a:t>
            </a:r>
            <a:r>
              <a:rPr sz="1300" b="1" spc="-7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Definition</a:t>
            </a:r>
            <a:endParaRPr sz="1300">
              <a:latin typeface="Arial"/>
              <a:cs typeface="Arial"/>
            </a:endParaRPr>
          </a:p>
          <a:p>
            <a:pPr marL="12700" marR="5080" indent="102235" algn="just">
              <a:lnSpc>
                <a:spcPct val="110900"/>
              </a:lnSpc>
              <a:spcBef>
                <a:spcPts val="1220"/>
              </a:spcBef>
              <a:buChar char="•"/>
              <a:tabLst>
                <a:tab pos="114935" algn="l"/>
              </a:tabLst>
            </a:pPr>
            <a:r>
              <a:rPr sz="1100" b="1" dirty="0">
                <a:latin typeface="Arial"/>
                <a:cs typeface="Arial"/>
              </a:rPr>
              <a:t>Client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Application: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frontend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(React.js)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allows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register,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in,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study </a:t>
            </a:r>
            <a:r>
              <a:rPr sz="1100" dirty="0">
                <a:latin typeface="Microsoft Sans Serif"/>
                <a:cs typeface="Microsoft Sans Serif"/>
              </a:rPr>
              <a:t>material,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access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AI-powered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features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such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summaries,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quizzes,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study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APIs.</a:t>
            </a:r>
            <a:endParaRPr sz="1100">
              <a:latin typeface="Microsoft Sans Serif"/>
              <a:cs typeface="Microsoft Sans Serif"/>
            </a:endParaRPr>
          </a:p>
          <a:p>
            <a:pPr marL="12700" marR="6985" indent="78105" algn="just">
              <a:lnSpc>
                <a:spcPct val="110900"/>
              </a:lnSpc>
              <a:spcBef>
                <a:spcPts val="1175"/>
              </a:spcBef>
              <a:buChar char="•"/>
              <a:tabLst>
                <a:tab pos="90805" algn="l"/>
              </a:tabLst>
            </a:pPr>
            <a:r>
              <a:rPr sz="1100" b="1" spc="-10" dirty="0">
                <a:latin typeface="Arial"/>
                <a:cs typeface="Arial"/>
              </a:rPr>
              <a:t>Express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Server: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Express.js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server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receives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HTTP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requests,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handles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routing,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processes </a:t>
            </a:r>
            <a:r>
              <a:rPr sz="1100" dirty="0">
                <a:latin typeface="Microsoft Sans Serif"/>
                <a:cs typeface="Microsoft Sans Serif"/>
              </a:rPr>
              <a:t>middleware,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sends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appropriate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responses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client.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2083"/>
            <a:ext cx="5761355" cy="214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indent="90170" algn="just">
              <a:lnSpc>
                <a:spcPct val="110900"/>
              </a:lnSpc>
              <a:spcBef>
                <a:spcPts val="100"/>
              </a:spcBef>
              <a:buChar char="•"/>
              <a:tabLst>
                <a:tab pos="102870" algn="l"/>
              </a:tabLst>
            </a:pPr>
            <a:r>
              <a:rPr sz="1100" b="1" spc="-10" dirty="0">
                <a:latin typeface="Arial"/>
                <a:cs typeface="Arial"/>
              </a:rPr>
              <a:t>Authentication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Middleware: </a:t>
            </a:r>
            <a:r>
              <a:rPr sz="1100" spc="-10" dirty="0">
                <a:latin typeface="Microsoft Sans Serif"/>
                <a:cs typeface="Microsoft Sans Serif"/>
              </a:rPr>
              <a:t>JWT-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middleware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verifies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 identity,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protects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private </a:t>
            </a:r>
            <a:r>
              <a:rPr sz="1100" dirty="0">
                <a:latin typeface="Microsoft Sans Serif"/>
                <a:cs typeface="Microsoft Sans Serif"/>
              </a:rPr>
              <a:t>routes,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ensures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that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only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authenticated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users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access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services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and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study</a:t>
            </a:r>
            <a:r>
              <a:rPr sz="1100" spc="-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resources.</a:t>
            </a:r>
            <a:endParaRPr sz="1100">
              <a:latin typeface="Microsoft Sans Serif"/>
              <a:cs typeface="Microsoft Sans Serif"/>
            </a:endParaRPr>
          </a:p>
          <a:p>
            <a:pPr marL="12700" marR="7620" indent="121285" algn="just">
              <a:lnSpc>
                <a:spcPct val="111800"/>
              </a:lnSpc>
              <a:spcBef>
                <a:spcPts val="1160"/>
              </a:spcBef>
              <a:buChar char="•"/>
              <a:tabLst>
                <a:tab pos="133985" algn="l"/>
              </a:tabLst>
            </a:pPr>
            <a:r>
              <a:rPr sz="1100" b="1" dirty="0">
                <a:latin typeface="Arial"/>
                <a:cs typeface="Arial"/>
              </a:rPr>
              <a:t>Route</a:t>
            </a:r>
            <a:r>
              <a:rPr sz="1100" b="1" spc="2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Handlers:</a:t>
            </a:r>
            <a:r>
              <a:rPr sz="1100" b="1" spc="24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Routes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</a:t>
            </a:r>
            <a:r>
              <a:rPr sz="1100" spc="2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endpoints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related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2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authentication,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study </a:t>
            </a:r>
            <a:r>
              <a:rPr sz="1100" dirty="0">
                <a:latin typeface="Microsoft Sans Serif"/>
                <a:cs typeface="Microsoft Sans Serif"/>
              </a:rPr>
              <a:t>materials,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features,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administrative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operations.</a:t>
            </a:r>
            <a:endParaRPr sz="1100">
              <a:latin typeface="Microsoft Sans Serif"/>
              <a:cs typeface="Microsoft Sans Serif"/>
            </a:endParaRPr>
          </a:p>
          <a:p>
            <a:pPr marL="12700" marR="5080" indent="100965" algn="just">
              <a:lnSpc>
                <a:spcPct val="110500"/>
              </a:lnSpc>
              <a:spcBef>
                <a:spcPts val="1185"/>
              </a:spcBef>
              <a:buChar char="•"/>
              <a:tabLst>
                <a:tab pos="113664" algn="l"/>
              </a:tabLst>
            </a:pP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Layer: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dedicated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service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communicates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Google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Gemini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API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to </a:t>
            </a:r>
            <a:r>
              <a:rPr sz="1100" dirty="0">
                <a:latin typeface="Microsoft Sans Serif"/>
                <a:cs typeface="Microsoft Sans Serif"/>
              </a:rPr>
              <a:t>generate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summaries,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quizzes,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flashcards,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user's </a:t>
            </a:r>
            <a:r>
              <a:rPr sz="1100" dirty="0">
                <a:latin typeface="Microsoft Sans Serif"/>
                <a:cs typeface="Microsoft Sans Serif"/>
              </a:rPr>
              <a:t>study </a:t>
            </a:r>
            <a:r>
              <a:rPr sz="1100" spc="-10" dirty="0">
                <a:latin typeface="Microsoft Sans Serif"/>
                <a:cs typeface="Microsoft Sans Serif"/>
              </a:rPr>
              <a:t>content.</a:t>
            </a:r>
            <a:endParaRPr sz="1100">
              <a:latin typeface="Microsoft Sans Serif"/>
              <a:cs typeface="Microsoft Sans Serif"/>
            </a:endParaRPr>
          </a:p>
          <a:p>
            <a:pPr marL="12700" marR="9525" indent="130810" algn="just">
              <a:lnSpc>
                <a:spcPct val="111100"/>
              </a:lnSpc>
              <a:spcBef>
                <a:spcPts val="1185"/>
              </a:spcBef>
              <a:buChar char="•"/>
              <a:tabLst>
                <a:tab pos="143510" algn="l"/>
              </a:tabLst>
            </a:pPr>
            <a:r>
              <a:rPr sz="1100" b="1" dirty="0">
                <a:latin typeface="Arial"/>
                <a:cs typeface="Arial"/>
              </a:rPr>
              <a:t>Database</a:t>
            </a:r>
            <a:r>
              <a:rPr sz="1100" b="1" spc="29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Layer:</a:t>
            </a:r>
            <a:r>
              <a:rPr sz="1100" b="1" spc="32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MongoDB,</a:t>
            </a:r>
            <a:r>
              <a:rPr sz="1100" spc="3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together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3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Mongoose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ODM,</a:t>
            </a:r>
            <a:r>
              <a:rPr sz="1100" spc="3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3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3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information, </a:t>
            </a:r>
            <a:r>
              <a:rPr sz="1100" dirty="0">
                <a:latin typeface="Microsoft Sans Serif"/>
                <a:cs typeface="Microsoft Sans Serif"/>
              </a:rPr>
              <a:t>uploaded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materials,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securely.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235579"/>
            <a:ext cx="46672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Arial"/>
                <a:cs typeface="Arial"/>
              </a:rPr>
              <a:t>Entity-</a:t>
            </a:r>
            <a:r>
              <a:rPr sz="1700" b="1" dirty="0">
                <a:latin typeface="Arial"/>
                <a:cs typeface="Arial"/>
              </a:rPr>
              <a:t>Relationship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(ER)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Diagram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Description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784091"/>
            <a:ext cx="5730875" cy="38223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2004" y="7744815"/>
            <a:ext cx="5760085" cy="198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StudyBuddy</a:t>
            </a:r>
            <a:r>
              <a:rPr sz="1100" spc="2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backend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manages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data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through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interconnected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MongoDB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collections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that </a:t>
            </a:r>
            <a:r>
              <a:rPr sz="1100" dirty="0">
                <a:latin typeface="Microsoft Sans Serif"/>
                <a:cs typeface="Microsoft Sans Serif"/>
              </a:rPr>
              <a:t>store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information,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materials,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resources.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Each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entity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is </a:t>
            </a:r>
            <a:r>
              <a:rPr sz="1100" dirty="0">
                <a:latin typeface="Microsoft Sans Serif"/>
                <a:cs typeface="Microsoft Sans Serif"/>
              </a:rPr>
              <a:t>linked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logical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relationships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efficient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management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retrieval.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94310" indent="-181610">
              <a:lnSpc>
                <a:spcPct val="100000"/>
              </a:lnSpc>
              <a:buFont typeface="Arial"/>
              <a:buAutoNum type="arabicPeriod"/>
              <a:tabLst>
                <a:tab pos="194310" algn="l"/>
              </a:tabLst>
            </a:pPr>
            <a:r>
              <a:rPr sz="1300" b="1" dirty="0">
                <a:latin typeface="Arial"/>
                <a:cs typeface="Arial"/>
              </a:rPr>
              <a:t>User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Entity</a:t>
            </a:r>
            <a:endParaRPr sz="13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380"/>
              </a:spcBef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details of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registered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 and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administrators.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Attributes: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_id</a:t>
            </a:r>
            <a:r>
              <a:rPr sz="1100" spc="-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(Primary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-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ObjectId)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5130"/>
            <a:ext cx="3792854" cy="88277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name</a:t>
            </a:r>
            <a:r>
              <a:rPr sz="1100" spc="-1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(String, </a:t>
            </a:r>
            <a:r>
              <a:rPr sz="1100" spc="-10" dirty="0">
                <a:latin typeface="Microsoft Sans Serif"/>
                <a:cs typeface="Microsoft Sans Serif"/>
              </a:rPr>
              <a:t>Required)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email</a:t>
            </a:r>
            <a:r>
              <a:rPr sz="1100" spc="-3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(String,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Required,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Unique)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password</a:t>
            </a:r>
            <a:r>
              <a:rPr sz="1100" spc="-2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(String,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Hashed)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role</a:t>
            </a:r>
            <a:r>
              <a:rPr sz="1100" spc="-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(String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- </a:t>
            </a:r>
            <a:r>
              <a:rPr sz="1100" spc="-10" dirty="0">
                <a:latin typeface="Microsoft Sans Serif"/>
                <a:cs typeface="Microsoft Sans Serif"/>
              </a:rPr>
              <a:t>Student/Admin)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createdAt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94945" indent="-182245">
              <a:lnSpc>
                <a:spcPct val="100000"/>
              </a:lnSpc>
              <a:buFont typeface="Arial"/>
              <a:buAutoNum type="arabicPeriod" startAt="2"/>
              <a:tabLst>
                <a:tab pos="194945" algn="l"/>
              </a:tabLst>
            </a:pPr>
            <a:r>
              <a:rPr sz="1300" b="1" dirty="0">
                <a:latin typeface="Arial"/>
                <a:cs typeface="Arial"/>
              </a:rPr>
              <a:t>Study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Material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Entity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content uploaded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by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processing.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Attributes: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_id</a:t>
            </a:r>
            <a:r>
              <a:rPr sz="1100" spc="-1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(Primary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Key)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userId</a:t>
            </a: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User)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title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subject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content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createdAt</a:t>
            </a:r>
            <a:endParaRPr sz="11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Font typeface="Microsoft Sans Serif"/>
              <a:buChar char="●"/>
            </a:pPr>
            <a:endParaRPr sz="1100">
              <a:latin typeface="Microsoft Sans Serif"/>
              <a:cs typeface="Microsoft Sans Serif"/>
            </a:endParaRPr>
          </a:p>
          <a:p>
            <a:pPr marL="194945" indent="-182245">
              <a:lnSpc>
                <a:spcPct val="100000"/>
              </a:lnSpc>
              <a:buFont typeface="Arial"/>
              <a:buAutoNum type="arabicPeriod" startAt="3"/>
              <a:tabLst>
                <a:tab pos="194945" algn="l"/>
              </a:tabLst>
            </a:pPr>
            <a:r>
              <a:rPr sz="1300" b="1" dirty="0">
                <a:latin typeface="Arial"/>
                <a:cs typeface="Arial"/>
              </a:rPr>
              <a:t>Summary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Entity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summaries.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Attributes: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_id</a:t>
            </a:r>
            <a:r>
              <a:rPr sz="1100" spc="-1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(Primary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Key)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userId</a:t>
            </a: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User)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4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materialId</a:t>
            </a:r>
            <a:r>
              <a:rPr sz="1100" spc="-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Material)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summary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createdAt</a:t>
            </a:r>
            <a:endParaRPr sz="11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Font typeface="Microsoft Sans Serif"/>
              <a:buChar char="●"/>
            </a:pPr>
            <a:endParaRPr sz="1100">
              <a:latin typeface="Microsoft Sans Serif"/>
              <a:cs typeface="Microsoft Sans Serif"/>
            </a:endParaRPr>
          </a:p>
          <a:p>
            <a:pPr marL="194310" indent="-181610">
              <a:lnSpc>
                <a:spcPct val="100000"/>
              </a:lnSpc>
              <a:buFont typeface="Arial"/>
              <a:buAutoNum type="arabicPeriod" startAt="4"/>
              <a:tabLst>
                <a:tab pos="194310" algn="l"/>
              </a:tabLst>
            </a:pPr>
            <a:r>
              <a:rPr sz="1300" b="1" dirty="0">
                <a:latin typeface="Arial"/>
                <a:cs typeface="Arial"/>
              </a:rPr>
              <a:t>Flashcard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Entity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flashcards.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Attributes: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_id</a:t>
            </a:r>
            <a:r>
              <a:rPr sz="1100" spc="-1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(Primary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Key)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userId</a:t>
            </a: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User)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materialId</a:t>
            </a:r>
            <a:r>
              <a:rPr sz="1100" spc="-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Material)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question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answer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createdAt</a:t>
            </a:r>
            <a:endParaRPr sz="11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Font typeface="Microsoft Sans Serif"/>
              <a:buChar char="●"/>
            </a:pPr>
            <a:endParaRPr sz="1100">
              <a:latin typeface="Microsoft Sans Serif"/>
              <a:cs typeface="Microsoft Sans Serif"/>
            </a:endParaRPr>
          </a:p>
          <a:p>
            <a:pPr marL="194310" indent="-181610">
              <a:lnSpc>
                <a:spcPct val="100000"/>
              </a:lnSpc>
              <a:buFont typeface="Arial"/>
              <a:buAutoNum type="arabicPeriod" startAt="5"/>
              <a:tabLst>
                <a:tab pos="194310" algn="l"/>
              </a:tabLst>
            </a:pPr>
            <a:r>
              <a:rPr sz="1300" b="1" dirty="0">
                <a:latin typeface="Arial"/>
                <a:cs typeface="Arial"/>
              </a:rPr>
              <a:t>Quiz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Entity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quizzes.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latin typeface="Arial"/>
                <a:cs typeface="Arial"/>
              </a:rPr>
              <a:t>Attributes: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5130"/>
            <a:ext cx="3090545" cy="30956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_id</a:t>
            </a:r>
            <a:r>
              <a:rPr sz="1100" spc="-1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(Primary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Key)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userId</a:t>
            </a: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User)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materialId</a:t>
            </a:r>
            <a:r>
              <a:rPr sz="1100" spc="-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Material)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questions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createdAt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94945" indent="-182245">
              <a:lnSpc>
                <a:spcPct val="100000"/>
              </a:lnSpc>
              <a:buFont typeface="Arial"/>
              <a:buAutoNum type="arabicPeriod" startAt="6"/>
              <a:tabLst>
                <a:tab pos="194945" algn="l"/>
              </a:tabLst>
            </a:pPr>
            <a:r>
              <a:rPr sz="1300" b="1" dirty="0">
                <a:latin typeface="Arial"/>
                <a:cs typeface="Arial"/>
              </a:rPr>
              <a:t>Study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Plan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Entity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by</a:t>
            </a:r>
            <a:r>
              <a:rPr sz="1100" spc="-25" dirty="0">
                <a:latin typeface="Microsoft Sans Serif"/>
                <a:cs typeface="Microsoft Sans Serif"/>
              </a:rPr>
              <a:t> AI.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Attributes: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_id</a:t>
            </a:r>
            <a:r>
              <a:rPr sz="1100" spc="-15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(Primary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Key)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178038"/>
                </a:solidFill>
                <a:latin typeface="Microsoft Sans Serif"/>
                <a:cs typeface="Microsoft Sans Serif"/>
              </a:rPr>
              <a:t>userId</a:t>
            </a: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(Foreign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Key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User)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studyPlan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examDate</a:t>
            </a:r>
            <a:endParaRPr sz="1100">
              <a:latin typeface="Microsoft Sans Serif"/>
              <a:cs typeface="Microsoft Sans Serif"/>
            </a:endParaRPr>
          </a:p>
          <a:p>
            <a:pPr marL="469265" lvl="1" indent="-22796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●"/>
              <a:tabLst>
                <a:tab pos="469265" algn="l"/>
              </a:tabLst>
            </a:pPr>
            <a:r>
              <a:rPr sz="1100" spc="-10" dirty="0">
                <a:solidFill>
                  <a:srgbClr val="178038"/>
                </a:solidFill>
                <a:latin typeface="Microsoft Sans Serif"/>
                <a:cs typeface="Microsoft Sans Serif"/>
              </a:rPr>
              <a:t>createdAt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186554"/>
            <a:ext cx="18961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Key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Relationships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610582"/>
            <a:ext cx="5761355" cy="50958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29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User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→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Material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(One-</a:t>
            </a:r>
            <a:r>
              <a:rPr sz="1100" b="1" spc="-10" dirty="0">
                <a:latin typeface="Arial"/>
                <a:cs typeface="Arial"/>
              </a:rPr>
              <a:t>to-</a:t>
            </a:r>
            <a:r>
              <a:rPr sz="1100" b="1" dirty="0">
                <a:latin typeface="Arial"/>
                <a:cs typeface="Arial"/>
              </a:rPr>
              <a:t>Many):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 can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multiple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materials.</a:t>
            </a:r>
            <a:endParaRPr sz="1100">
              <a:latin typeface="Microsoft Sans Serif"/>
              <a:cs typeface="Microsoft Sans Serif"/>
            </a:endParaRPr>
          </a:p>
          <a:p>
            <a:pPr marL="469265" marR="142240" indent="-228600">
              <a:lnSpc>
                <a:spcPts val="1460"/>
              </a:lnSpc>
              <a:spcBef>
                <a:spcPts val="7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Material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→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Summary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(One-</a:t>
            </a:r>
            <a:r>
              <a:rPr sz="1100" b="1" spc="-10" dirty="0">
                <a:latin typeface="Arial"/>
                <a:cs typeface="Arial"/>
              </a:rPr>
              <a:t>to-</a:t>
            </a:r>
            <a:r>
              <a:rPr sz="1100" b="1" dirty="0">
                <a:latin typeface="Arial"/>
                <a:cs typeface="Arial"/>
              </a:rPr>
              <a:t>One):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Each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uploaded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have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one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10" dirty="0">
                <a:latin typeface="Microsoft Sans Serif"/>
                <a:cs typeface="Microsoft Sans Serif"/>
              </a:rPr>
              <a:t> summary.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Material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→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Flashcards</a:t>
            </a:r>
            <a:r>
              <a:rPr sz="1100" b="1" spc="-10" dirty="0">
                <a:latin typeface="Arial"/>
                <a:cs typeface="Arial"/>
              </a:rPr>
              <a:t> (One-to-</a:t>
            </a:r>
            <a:r>
              <a:rPr sz="1100" b="1" dirty="0">
                <a:latin typeface="Arial"/>
                <a:cs typeface="Arial"/>
              </a:rPr>
              <a:t>Many): </a:t>
            </a:r>
            <a:r>
              <a:rPr sz="1100" dirty="0">
                <a:latin typeface="Microsoft Sans Serif"/>
                <a:cs typeface="Microsoft Sans Serif"/>
              </a:rPr>
              <a:t>One study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-10" dirty="0">
                <a:latin typeface="Microsoft Sans Serif"/>
                <a:cs typeface="Microsoft Sans Serif"/>
              </a:rPr>
              <a:t> generate</a:t>
            </a:r>
            <a:endParaRPr sz="1100">
              <a:latin typeface="Microsoft Sans Serif"/>
              <a:cs typeface="Microsoft Sans Serif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Microsoft Sans Serif"/>
                <a:cs typeface="Microsoft Sans Serif"/>
              </a:rPr>
              <a:t>multiple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flashcards.</a:t>
            </a:r>
            <a:endParaRPr sz="1100">
              <a:latin typeface="Microsoft Sans Serif"/>
              <a:cs typeface="Microsoft Sans Serif"/>
            </a:endParaRPr>
          </a:p>
          <a:p>
            <a:pPr marL="469265" marR="229870" indent="-228600">
              <a:lnSpc>
                <a:spcPts val="1460"/>
              </a:lnSpc>
              <a:spcBef>
                <a:spcPts val="5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Material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→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Quiz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(One-</a:t>
            </a:r>
            <a:r>
              <a:rPr sz="1100" b="1" spc="-10" dirty="0">
                <a:latin typeface="Arial"/>
                <a:cs typeface="Arial"/>
              </a:rPr>
              <a:t>to-</a:t>
            </a:r>
            <a:r>
              <a:rPr sz="1100" b="1" dirty="0">
                <a:latin typeface="Arial"/>
                <a:cs typeface="Arial"/>
              </a:rPr>
              <a:t>One):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quiz </a:t>
            </a:r>
            <a:r>
              <a:rPr sz="1100" dirty="0">
                <a:latin typeface="Microsoft Sans Serif"/>
                <a:cs typeface="Microsoft Sans Serif"/>
              </a:rPr>
              <a:t>containing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multiple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questions.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User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→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Plan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(One-to-</a:t>
            </a:r>
            <a:r>
              <a:rPr sz="1100" b="1" dirty="0">
                <a:latin typeface="Arial"/>
                <a:cs typeface="Arial"/>
              </a:rPr>
              <a:t>Many):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 can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multiple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based</a:t>
            </a:r>
            <a:endParaRPr sz="1100">
              <a:latin typeface="Microsoft Sans Serif"/>
              <a:cs typeface="Microsoft Sans Serif"/>
            </a:endParaRPr>
          </a:p>
          <a:p>
            <a:pPr marL="469265">
              <a:lnSpc>
                <a:spcPct val="100000"/>
              </a:lnSpc>
              <a:spcBef>
                <a:spcPts val="155"/>
              </a:spcBef>
            </a:pP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different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subjects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examination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schedules.</a:t>
            </a:r>
            <a:endParaRPr sz="1100">
              <a:latin typeface="Microsoft Sans Serif"/>
              <a:cs typeface="Microsoft Sans Serif"/>
            </a:endParaRPr>
          </a:p>
          <a:p>
            <a:pPr marL="469265" marR="314325" indent="-228600">
              <a:lnSpc>
                <a:spcPts val="1460"/>
              </a:lnSpc>
              <a:spcBef>
                <a:spcPts val="5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User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→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Resources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(One-to-</a:t>
            </a:r>
            <a:r>
              <a:rPr sz="1100" b="1" dirty="0">
                <a:latin typeface="Arial"/>
                <a:cs typeface="Arial"/>
              </a:rPr>
              <a:t>Many):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</a:t>
            </a:r>
            <a:r>
              <a:rPr sz="1100" spc="-10" dirty="0">
                <a:latin typeface="Microsoft Sans Serif"/>
                <a:cs typeface="Microsoft Sans Serif"/>
              </a:rPr>
              <a:t> 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summaries,</a:t>
            </a:r>
            <a:r>
              <a:rPr sz="1100" spc="-10" dirty="0">
                <a:latin typeface="Microsoft Sans Serif"/>
                <a:cs typeface="Microsoft Sans Serif"/>
              </a:rPr>
              <a:t> flashcards, </a:t>
            </a:r>
            <a:r>
              <a:rPr sz="1100" dirty="0">
                <a:latin typeface="Microsoft Sans Serif"/>
                <a:cs typeface="Microsoft Sans Serif"/>
              </a:rPr>
              <a:t>quizzes,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associated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who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them.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Microsoft Sans Serif"/>
              <a:buChar char="●"/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Key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Features</a:t>
            </a:r>
            <a:endParaRPr sz="1700">
              <a:latin typeface="Arial"/>
              <a:cs typeface="Arial"/>
            </a:endParaRPr>
          </a:p>
          <a:p>
            <a:pPr marL="12700" marR="5715">
              <a:lnSpc>
                <a:spcPct val="110000"/>
              </a:lnSpc>
              <a:spcBef>
                <a:spcPts val="1320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StudyBuddy</a:t>
            </a:r>
            <a:r>
              <a:rPr sz="1100" spc="155" dirty="0">
                <a:latin typeface="Microsoft Sans Serif"/>
                <a:cs typeface="Microsoft Sans Serif"/>
              </a:rPr>
              <a:t> 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provides</a:t>
            </a:r>
            <a:r>
              <a:rPr sz="1100" spc="1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intelligent</a:t>
            </a:r>
            <a:r>
              <a:rPr sz="1100" spc="1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assistance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and </a:t>
            </a:r>
            <a:r>
              <a:rPr sz="1100" dirty="0">
                <a:latin typeface="Microsoft Sans Serif"/>
                <a:cs typeface="Microsoft Sans Serif"/>
              </a:rPr>
              <a:t>scalable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REST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APIs.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major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features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system are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follows:</a:t>
            </a:r>
            <a:endParaRPr sz="1100">
              <a:latin typeface="Microsoft Sans Serif"/>
              <a:cs typeface="Microsoft Sans Serif"/>
            </a:endParaRPr>
          </a:p>
          <a:p>
            <a:pPr marL="469265" marR="5715" indent="-228600">
              <a:lnSpc>
                <a:spcPct val="110900"/>
              </a:lnSpc>
              <a:spcBef>
                <a:spcPts val="117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Secure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User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Authentication: </a:t>
            </a:r>
            <a:r>
              <a:rPr sz="1100" dirty="0">
                <a:latin typeface="Microsoft Sans Serif"/>
                <a:cs typeface="Microsoft Sans Serif"/>
              </a:rPr>
              <a:t>Implements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JWT-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authentication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encrypted </a:t>
            </a:r>
            <a:r>
              <a:rPr sz="1100" dirty="0">
                <a:latin typeface="Microsoft Sans Serif"/>
                <a:cs typeface="Microsoft Sans Serif"/>
              </a:rPr>
              <a:t>passwords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bcrypt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access.</a:t>
            </a:r>
            <a:endParaRPr sz="1100">
              <a:latin typeface="Microsoft Sans Serif"/>
              <a:cs typeface="Microsoft Sans Serif"/>
            </a:endParaRPr>
          </a:p>
          <a:p>
            <a:pPr marL="469265" marR="6985" indent="-228600">
              <a:lnSpc>
                <a:spcPts val="1460"/>
              </a:lnSpc>
              <a:spcBef>
                <a:spcPts val="6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Material</a:t>
            </a:r>
            <a:r>
              <a:rPr sz="1100" b="1" spc="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Management: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Allows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materials </a:t>
            </a:r>
            <a:r>
              <a:rPr sz="1100" dirty="0">
                <a:latin typeface="Microsoft Sans Serif"/>
                <a:cs typeface="Microsoft Sans Serif"/>
              </a:rPr>
              <a:t>that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input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-10" dirty="0">
                <a:latin typeface="Microsoft Sans Serif"/>
                <a:cs typeface="Microsoft Sans Serif"/>
              </a:rPr>
              <a:t> AI-</a:t>
            </a:r>
            <a:r>
              <a:rPr sz="1100" dirty="0">
                <a:latin typeface="Microsoft Sans Serif"/>
                <a:cs typeface="Microsoft Sans Serif"/>
              </a:rPr>
              <a:t>powered learning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features.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2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Summary</a:t>
            </a:r>
            <a:r>
              <a:rPr sz="1100" b="1" spc="18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Generation:</a:t>
            </a:r>
            <a:r>
              <a:rPr sz="1100" b="1" spc="204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Generates</a:t>
            </a:r>
            <a:r>
              <a:rPr sz="1100" spc="2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concise</a:t>
            </a:r>
            <a:r>
              <a:rPr sz="1100" spc="2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2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easy-to-</a:t>
            </a:r>
            <a:r>
              <a:rPr sz="1100" dirty="0">
                <a:latin typeface="Microsoft Sans Serif"/>
                <a:cs typeface="Microsoft Sans Serif"/>
              </a:rPr>
              <a:t>understand</a:t>
            </a:r>
            <a:r>
              <a:rPr sz="1100" spc="204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summaries</a:t>
            </a:r>
            <a:endParaRPr sz="1100">
              <a:latin typeface="Microsoft Sans Serif"/>
              <a:cs typeface="Microsoft Sans Serif"/>
            </a:endParaRPr>
          </a:p>
          <a:p>
            <a:pPr marL="469265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Microsoft Sans Serif"/>
                <a:cs typeface="Microsoft Sans Serif"/>
              </a:rPr>
              <a:t>from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uploaded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content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Google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Gemini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API.</a:t>
            </a:r>
            <a:endParaRPr sz="1100">
              <a:latin typeface="Microsoft Sans Serif"/>
              <a:cs typeface="Microsoft Sans Serif"/>
            </a:endParaRPr>
          </a:p>
          <a:p>
            <a:pPr marL="469265" marR="7620" indent="-228600">
              <a:lnSpc>
                <a:spcPts val="1480"/>
              </a:lnSpc>
              <a:spcBef>
                <a:spcPts val="4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Flashcard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Generation: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Automatically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creates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from</a:t>
            </a:r>
            <a:r>
              <a:rPr sz="1100" spc="8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to </a:t>
            </a:r>
            <a:r>
              <a:rPr sz="1100" dirty="0">
                <a:latin typeface="Microsoft Sans Serif"/>
                <a:cs typeface="Microsoft Sans Serif"/>
              </a:rPr>
              <a:t>improve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concept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revision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active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recall.</a:t>
            </a:r>
            <a:endParaRPr sz="11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4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Quiz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Generation: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Produces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multiple-</a:t>
            </a:r>
            <a:r>
              <a:rPr sz="1100" dirty="0">
                <a:latin typeface="Microsoft Sans Serif"/>
                <a:cs typeface="Microsoft Sans Serif"/>
              </a:rPr>
              <a:t>choice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uploaded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content,</a:t>
            </a:r>
            <a:endParaRPr sz="1100">
              <a:latin typeface="Microsoft Sans Serif"/>
              <a:cs typeface="Microsoft Sans Serif"/>
            </a:endParaRPr>
          </a:p>
          <a:p>
            <a:pPr marL="469265">
              <a:lnSpc>
                <a:spcPct val="100000"/>
              </a:lnSpc>
              <a:spcBef>
                <a:spcPts val="140"/>
              </a:spcBef>
            </a:pPr>
            <a:r>
              <a:rPr sz="1100" dirty="0">
                <a:latin typeface="Microsoft Sans Serif"/>
                <a:cs typeface="Microsoft Sans Serif"/>
              </a:rPr>
              <a:t>enabling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test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their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knowledge.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72083"/>
            <a:ext cx="5531485" cy="1136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900"/>
              </a:lnSpc>
              <a:spcBef>
                <a:spcPts val="100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1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Study</a:t>
            </a:r>
            <a:r>
              <a:rPr sz="1100" b="1" spc="1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Plan</a:t>
            </a:r>
            <a:r>
              <a:rPr sz="1100" b="1" spc="1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Generation:</a:t>
            </a:r>
            <a:r>
              <a:rPr sz="1100" b="1" spc="17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Generates</a:t>
            </a:r>
            <a:r>
              <a:rPr sz="1100" spc="1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18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1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according</a:t>
            </a:r>
            <a:r>
              <a:rPr sz="1100" spc="1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16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the </a:t>
            </a:r>
            <a:r>
              <a:rPr sz="1100" dirty="0">
                <a:latin typeface="Microsoft Sans Serif"/>
                <a:cs typeface="Microsoft Sans Serif"/>
              </a:rPr>
              <a:t>user's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goals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available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time.</a:t>
            </a:r>
            <a:endParaRPr sz="1100">
              <a:latin typeface="Microsoft Sans Serif"/>
              <a:cs typeface="Microsoft Sans Serif"/>
            </a:endParaRPr>
          </a:p>
          <a:p>
            <a:pPr marL="240665" marR="5715" indent="-228600">
              <a:lnSpc>
                <a:spcPts val="1480"/>
              </a:lnSpc>
              <a:spcBef>
                <a:spcPts val="35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sz="1100" b="1" spc="-10" dirty="0">
                <a:latin typeface="Arial"/>
                <a:cs typeface="Arial"/>
              </a:rPr>
              <a:t>Role-</a:t>
            </a:r>
            <a:r>
              <a:rPr sz="1100" b="1" dirty="0">
                <a:latin typeface="Arial"/>
                <a:cs typeface="Arial"/>
              </a:rPr>
              <a:t>Based</a:t>
            </a:r>
            <a:r>
              <a:rPr sz="1100" b="1" spc="38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Access</a:t>
            </a:r>
            <a:r>
              <a:rPr sz="1100" b="1" spc="3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Control</a:t>
            </a:r>
            <a:r>
              <a:rPr sz="1100" b="1" spc="3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(RBAC):</a:t>
            </a:r>
            <a:r>
              <a:rPr sz="1100" b="1" spc="395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Provides</a:t>
            </a:r>
            <a:r>
              <a:rPr sz="1100" spc="3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different</a:t>
            </a:r>
            <a:r>
              <a:rPr sz="1100" spc="3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access</a:t>
            </a:r>
            <a:r>
              <a:rPr sz="1100" spc="3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privileges</a:t>
            </a:r>
            <a:r>
              <a:rPr sz="1100" spc="38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for </a:t>
            </a: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Administrators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management.</a:t>
            </a:r>
            <a:endParaRPr sz="11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40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sz="1100" b="1" dirty="0">
                <a:latin typeface="Arial"/>
                <a:cs typeface="Arial"/>
              </a:rPr>
              <a:t>MongoDB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Storage: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Efficiently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stores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information,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uploaded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and</a:t>
            </a:r>
            <a:endParaRPr sz="1100">
              <a:latin typeface="Microsoft Sans Serif"/>
              <a:cs typeface="Microsoft Sans Serif"/>
            </a:endParaRPr>
          </a:p>
          <a:p>
            <a:pPr marL="240665">
              <a:lnSpc>
                <a:spcPct val="100000"/>
              </a:lnSpc>
              <a:spcBef>
                <a:spcPts val="145"/>
              </a:spcBef>
            </a:pP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MongoDB.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223261"/>
            <a:ext cx="2771140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Roles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and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Responsibilities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300" b="1" spc="-10" dirty="0">
                <a:latin typeface="Arial"/>
                <a:cs typeface="Arial"/>
              </a:rPr>
              <a:t>Student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047212"/>
            <a:ext cx="5761990" cy="394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are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primary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system.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They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register,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securely,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study </a:t>
            </a:r>
            <a:r>
              <a:rPr sz="1100" dirty="0">
                <a:latin typeface="Microsoft Sans Serif"/>
                <a:cs typeface="Microsoft Sans Serif"/>
              </a:rPr>
              <a:t>materials,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utilize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AI-powered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features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such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as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summary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generation,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creation, </a:t>
            </a:r>
            <a:r>
              <a:rPr sz="1100" dirty="0">
                <a:latin typeface="Microsoft Sans Serif"/>
                <a:cs typeface="Microsoft Sans Serif"/>
              </a:rPr>
              <a:t>quiz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generation,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plans.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Students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also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view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</a:t>
            </a:r>
            <a:r>
              <a:rPr sz="1100" spc="1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their </a:t>
            </a:r>
            <a:r>
              <a:rPr sz="1100" dirty="0">
                <a:latin typeface="Microsoft Sans Serif"/>
                <a:cs typeface="Microsoft Sans Serif"/>
              </a:rPr>
              <a:t>previously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resources.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spc="-10" dirty="0">
                <a:latin typeface="Arial"/>
                <a:cs typeface="Arial"/>
              </a:rPr>
              <a:t>Administrator</a:t>
            </a:r>
            <a:endParaRPr sz="1300">
              <a:latin typeface="Arial"/>
              <a:cs typeface="Arial"/>
            </a:endParaRPr>
          </a:p>
          <a:p>
            <a:pPr marL="12700" marR="7620" algn="just">
              <a:lnSpc>
                <a:spcPct val="110100"/>
              </a:lnSpc>
              <a:spcBef>
                <a:spcPts val="1255"/>
              </a:spcBef>
            </a:pPr>
            <a:r>
              <a:rPr sz="1100" dirty="0">
                <a:latin typeface="Microsoft Sans Serif"/>
                <a:cs typeface="Microsoft Sans Serif"/>
              </a:rPr>
              <a:t>Administrators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overall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</a:t>
            </a:r>
            <a:r>
              <a:rPr sz="1100" spc="1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ensure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its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smooth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operation.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They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monitor </a:t>
            </a:r>
            <a:r>
              <a:rPr sz="1100" dirty="0">
                <a:latin typeface="Microsoft Sans Serif"/>
                <a:cs typeface="Microsoft Sans Serif"/>
              </a:rPr>
              <a:t>registered</a:t>
            </a:r>
            <a:r>
              <a:rPr sz="1100" spc="3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users,</a:t>
            </a:r>
            <a:r>
              <a:rPr sz="1100" spc="3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</a:t>
            </a:r>
            <a:r>
              <a:rPr sz="1100" spc="3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3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accounts,</a:t>
            </a:r>
            <a:r>
              <a:rPr sz="1100" spc="3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oversee</a:t>
            </a:r>
            <a:r>
              <a:rPr sz="1100" spc="3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</a:t>
            </a:r>
            <a:r>
              <a:rPr sz="1100" spc="3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usage,</a:t>
            </a:r>
            <a:r>
              <a:rPr sz="1100" spc="3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maintain</a:t>
            </a:r>
            <a:r>
              <a:rPr sz="1100" spc="3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system </a:t>
            </a:r>
            <a:r>
              <a:rPr sz="1100" dirty="0">
                <a:latin typeface="Microsoft Sans Serif"/>
                <a:cs typeface="Microsoft Sans Serif"/>
              </a:rPr>
              <a:t>integrity,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ensure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that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AI-powered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services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function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correctly.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Administrators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also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have </a:t>
            </a:r>
            <a:r>
              <a:rPr sz="1100" dirty="0">
                <a:latin typeface="Microsoft Sans Serif"/>
                <a:cs typeface="Microsoft Sans Serif"/>
              </a:rPr>
              <a:t>permission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perform </a:t>
            </a:r>
            <a:r>
              <a:rPr sz="1100" spc="-10" dirty="0">
                <a:latin typeface="Microsoft Sans Serif"/>
                <a:cs typeface="Microsoft Sans Serif"/>
              </a:rPr>
              <a:t>system-</a:t>
            </a:r>
            <a:r>
              <a:rPr sz="1100" dirty="0">
                <a:latin typeface="Microsoft Sans Serif"/>
                <a:cs typeface="Microsoft Sans Serif"/>
              </a:rPr>
              <a:t>level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management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tasks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resolve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user-related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issues.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User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Flow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10300"/>
              </a:lnSpc>
              <a:spcBef>
                <a:spcPts val="1300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StudyBuddy</a:t>
            </a:r>
            <a:r>
              <a:rPr sz="1100" spc="4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begins</a:t>
            </a:r>
            <a:r>
              <a:rPr sz="1100" spc="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registering</a:t>
            </a:r>
            <a:r>
              <a:rPr sz="1100" spc="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logging</a:t>
            </a:r>
            <a:r>
              <a:rPr sz="1100" spc="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into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system. </a:t>
            </a:r>
            <a:r>
              <a:rPr sz="1100" dirty="0">
                <a:latin typeface="Microsoft Sans Serif"/>
                <a:cs typeface="Microsoft Sans Serif"/>
              </a:rPr>
              <a:t>After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successful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JWT-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authentication,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redirected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dashboard,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where </a:t>
            </a:r>
            <a:r>
              <a:rPr sz="1100" dirty="0">
                <a:latin typeface="Microsoft Sans Serif"/>
                <a:cs typeface="Microsoft Sans Serif"/>
              </a:rPr>
              <a:t>they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access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AI-powered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features.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Based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on</a:t>
            </a:r>
            <a:r>
              <a:rPr sz="1100" spc="114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uploaded </a:t>
            </a:r>
            <a:r>
              <a:rPr sz="1100" dirty="0">
                <a:latin typeface="Microsoft Sans Serif"/>
                <a:cs typeface="Microsoft Sans Serif"/>
              </a:rPr>
              <a:t>content,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system</a:t>
            </a:r>
            <a:r>
              <a:rPr sz="1100" spc="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generates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summaries,</a:t>
            </a:r>
            <a:r>
              <a:rPr sz="1100" spc="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flashcards,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quizzes,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or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personalized</a:t>
            </a:r>
            <a:r>
              <a:rPr sz="1100" spc="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plans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Google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Gemini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API.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are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displayed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6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be </a:t>
            </a:r>
            <a:r>
              <a:rPr sz="1100" dirty="0">
                <a:latin typeface="Microsoft Sans Serif"/>
                <a:cs typeface="Microsoft Sans Serif"/>
              </a:rPr>
              <a:t>saved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future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reference.</a:t>
            </a:r>
            <a:r>
              <a:rPr sz="1100" spc="1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1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can</a:t>
            </a:r>
            <a:r>
              <a:rPr sz="1100" spc="1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also</a:t>
            </a:r>
            <a:r>
              <a:rPr sz="1100" spc="1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their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profile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view</a:t>
            </a:r>
            <a:r>
              <a:rPr sz="1100" spc="1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their</a:t>
            </a:r>
            <a:r>
              <a:rPr sz="1100" spc="17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previously 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learning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dashboard.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55" y="914399"/>
            <a:ext cx="5712219" cy="382244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2004" y="5299328"/>
            <a:ext cx="26416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MVC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Architecture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Pattern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848095"/>
            <a:ext cx="5730875" cy="34795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2083"/>
            <a:ext cx="5761355" cy="4994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0500"/>
              </a:lnSpc>
              <a:spcBef>
                <a:spcPts val="10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2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StudyBuddy</a:t>
            </a:r>
            <a:r>
              <a:rPr sz="1100" spc="245" dirty="0">
                <a:latin typeface="Microsoft Sans Serif"/>
                <a:cs typeface="Microsoft Sans Serif"/>
              </a:rPr>
              <a:t> 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229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follows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Arial"/>
                <a:cs typeface="Arial"/>
              </a:rPr>
              <a:t>Model-View-</a:t>
            </a:r>
            <a:r>
              <a:rPr sz="1100" b="1" dirty="0">
                <a:latin typeface="Arial"/>
                <a:cs typeface="Arial"/>
              </a:rPr>
              <a:t>Controller</a:t>
            </a:r>
            <a:r>
              <a:rPr sz="1100" b="1" spc="2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(MVC)</a:t>
            </a:r>
            <a:r>
              <a:rPr sz="1100" b="1" spc="250" dirty="0">
                <a:latin typeface="Arial"/>
                <a:cs typeface="Arial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architecture</a:t>
            </a:r>
            <a:r>
              <a:rPr sz="1100" spc="254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to </a:t>
            </a:r>
            <a:r>
              <a:rPr sz="1100" dirty="0">
                <a:latin typeface="Microsoft Sans Serif"/>
                <a:cs typeface="Microsoft Sans Serif"/>
              </a:rPr>
              <a:t>organize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into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separate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layers,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making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code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modular,</a:t>
            </a:r>
            <a:r>
              <a:rPr sz="1100" spc="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maintainable,</a:t>
            </a:r>
            <a:r>
              <a:rPr sz="1100" spc="10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and </a:t>
            </a:r>
            <a:r>
              <a:rPr sz="1100" spc="-10" dirty="0">
                <a:latin typeface="Microsoft Sans Serif"/>
                <a:cs typeface="Microsoft Sans Serif"/>
              </a:rPr>
              <a:t>scalable.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Model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Layer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(Data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Layer)</a:t>
            </a:r>
            <a:endParaRPr sz="1300">
              <a:latin typeface="Arial"/>
              <a:cs typeface="Arial"/>
            </a:endParaRPr>
          </a:p>
          <a:p>
            <a:pPr marL="12700" marR="6350" algn="just">
              <a:lnSpc>
                <a:spcPct val="110000"/>
              </a:lnSpc>
              <a:spcBef>
                <a:spcPts val="124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Model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layer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defines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MongoDB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collections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Mongoose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schemas.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responsible </a:t>
            </a:r>
            <a:r>
              <a:rPr sz="1100" dirty="0">
                <a:latin typeface="Microsoft Sans Serif"/>
                <a:cs typeface="Microsoft Sans Serif"/>
              </a:rPr>
              <a:t>for</a:t>
            </a:r>
            <a:r>
              <a:rPr sz="1100" spc="4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managing</a:t>
            </a:r>
            <a:r>
              <a:rPr sz="1100" spc="4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4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information,</a:t>
            </a:r>
            <a:r>
              <a:rPr sz="1100" spc="4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uploaded</a:t>
            </a:r>
            <a:r>
              <a:rPr sz="1100" spc="459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</a:t>
            </a:r>
            <a:r>
              <a:rPr sz="1100" spc="4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materials,</a:t>
            </a:r>
            <a:r>
              <a:rPr sz="1100" spc="47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459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AI-</a:t>
            </a:r>
            <a:r>
              <a:rPr sz="1100" dirty="0">
                <a:latin typeface="Microsoft Sans Serif"/>
                <a:cs typeface="Microsoft Sans Serif"/>
              </a:rPr>
              <a:t>generated</a:t>
            </a:r>
            <a:r>
              <a:rPr sz="1100" spc="459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learning </a:t>
            </a:r>
            <a:r>
              <a:rPr sz="1100" dirty="0">
                <a:latin typeface="Microsoft Sans Serif"/>
                <a:cs typeface="Microsoft Sans Serif"/>
              </a:rPr>
              <a:t>resources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while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ensuring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validation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database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interactions.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View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Layer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(API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Response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Layer)</a:t>
            </a:r>
            <a:endParaRPr sz="1300">
              <a:latin typeface="Arial"/>
              <a:cs typeface="Arial"/>
            </a:endParaRPr>
          </a:p>
          <a:p>
            <a:pPr marL="12700" marR="8255" algn="just">
              <a:lnSpc>
                <a:spcPct val="110000"/>
              </a:lnSpc>
              <a:spcBef>
                <a:spcPts val="1260"/>
              </a:spcBef>
            </a:pPr>
            <a:r>
              <a:rPr sz="1100" spc="-10" dirty="0">
                <a:latin typeface="Microsoft Sans Serif"/>
                <a:cs typeface="Microsoft Sans Serif"/>
              </a:rPr>
              <a:t>Since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StudyBuddy</a:t>
            </a:r>
            <a:r>
              <a:rPr sz="1100" spc="2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backend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REST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API,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there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no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traditional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interface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View </a:t>
            </a:r>
            <a:r>
              <a:rPr sz="1100" dirty="0">
                <a:latin typeface="Microsoft Sans Serif"/>
                <a:cs typeface="Microsoft Sans Serif"/>
              </a:rPr>
              <a:t>layer.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Instead,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returns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structured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JSON</a:t>
            </a:r>
            <a:r>
              <a:rPr sz="1100" spc="1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responses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React</a:t>
            </a:r>
            <a:r>
              <a:rPr sz="1100" spc="1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frontend,</a:t>
            </a:r>
            <a:r>
              <a:rPr sz="1100" spc="1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allowing </a:t>
            </a:r>
            <a:r>
              <a:rPr sz="1100" dirty="0">
                <a:latin typeface="Microsoft Sans Serif"/>
                <a:cs typeface="Microsoft Sans Serif"/>
              </a:rPr>
              <a:t>users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interact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application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through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endpoints.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Controller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Layer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(Business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Logic)</a:t>
            </a:r>
            <a:endParaRPr sz="1300">
              <a:latin typeface="Arial"/>
              <a:cs typeface="Arial"/>
            </a:endParaRPr>
          </a:p>
          <a:p>
            <a:pPr marL="12700" marR="8255" algn="just">
              <a:lnSpc>
                <a:spcPct val="110000"/>
              </a:lnSpc>
              <a:spcBef>
                <a:spcPts val="124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3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Controller</a:t>
            </a:r>
            <a:r>
              <a:rPr sz="1100" spc="3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layer</a:t>
            </a:r>
            <a:r>
              <a:rPr sz="1100" spc="36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processes</a:t>
            </a:r>
            <a:r>
              <a:rPr sz="1100" spc="3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incoming</a:t>
            </a:r>
            <a:r>
              <a:rPr sz="1100" spc="36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API</a:t>
            </a:r>
            <a:r>
              <a:rPr sz="1100" spc="3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requests,</a:t>
            </a:r>
            <a:r>
              <a:rPr sz="1100" spc="3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validates</a:t>
            </a:r>
            <a:r>
              <a:rPr sz="1100" spc="3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user</a:t>
            </a:r>
            <a:r>
              <a:rPr sz="1100" spc="3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input,</a:t>
            </a:r>
            <a:r>
              <a:rPr sz="1100" spc="35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performs </a:t>
            </a:r>
            <a:r>
              <a:rPr sz="1100" dirty="0">
                <a:latin typeface="Microsoft Sans Serif"/>
                <a:cs typeface="Microsoft Sans Serif"/>
              </a:rPr>
              <a:t>authentication</a:t>
            </a:r>
            <a:r>
              <a:rPr sz="1100" spc="2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28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authorization,</a:t>
            </a:r>
            <a:r>
              <a:rPr sz="1100" spc="30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communicates</a:t>
            </a:r>
            <a:r>
              <a:rPr sz="1100" spc="29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</a:t>
            </a:r>
            <a:r>
              <a:rPr sz="1100" spc="29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28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database</a:t>
            </a:r>
            <a:r>
              <a:rPr sz="1100" spc="28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models,</a:t>
            </a:r>
            <a:r>
              <a:rPr sz="1100" spc="30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invokes</a:t>
            </a:r>
            <a:r>
              <a:rPr sz="1100" spc="27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the </a:t>
            </a:r>
            <a:r>
              <a:rPr sz="1100" dirty="0">
                <a:latin typeface="Microsoft Sans Serif"/>
                <a:cs typeface="Microsoft Sans Serif"/>
              </a:rPr>
              <a:t>Google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Gemini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AI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service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when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required,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returns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 appropriate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response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client.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Arial"/>
                <a:cs typeface="Arial"/>
              </a:rPr>
              <a:t>MVC</a:t>
            </a:r>
            <a:r>
              <a:rPr sz="1300" b="1" spc="-10" dirty="0">
                <a:latin typeface="Arial"/>
                <a:cs typeface="Arial"/>
              </a:rPr>
              <a:t> Benefits</a:t>
            </a:r>
            <a:endParaRPr sz="1300">
              <a:latin typeface="Arial"/>
              <a:cs typeface="Arial"/>
            </a:endParaRPr>
          </a:p>
          <a:p>
            <a:pPr marL="12700" marR="5715" algn="just">
              <a:lnSpc>
                <a:spcPct val="110000"/>
              </a:lnSpc>
              <a:spcBef>
                <a:spcPts val="1255"/>
              </a:spcBef>
            </a:pP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MVC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architecture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separates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data</a:t>
            </a:r>
            <a:r>
              <a:rPr sz="1100" spc="-5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management,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business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logic,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client</a:t>
            </a:r>
            <a:r>
              <a:rPr sz="1100" spc="-4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communication </a:t>
            </a:r>
            <a:r>
              <a:rPr sz="1100" dirty="0">
                <a:latin typeface="Microsoft Sans Serif"/>
                <a:cs typeface="Microsoft Sans Serif"/>
              </a:rPr>
              <a:t>into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independent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components.</a:t>
            </a:r>
            <a:r>
              <a:rPr sz="1100" spc="2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This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improves</a:t>
            </a:r>
            <a:r>
              <a:rPr sz="1100" spc="2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code</a:t>
            </a:r>
            <a:r>
              <a:rPr sz="1100" spc="2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readability,</a:t>
            </a:r>
            <a:r>
              <a:rPr sz="1100" spc="25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simplifies</a:t>
            </a:r>
            <a:r>
              <a:rPr sz="1100" spc="2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debugging</a:t>
            </a:r>
            <a:r>
              <a:rPr sz="1100" spc="254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and </a:t>
            </a:r>
            <a:r>
              <a:rPr sz="1100" dirty="0">
                <a:latin typeface="Microsoft Sans Serif"/>
                <a:cs typeface="Microsoft Sans Serif"/>
              </a:rPr>
              <a:t>testing,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allows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new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features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integrated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without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affecting existing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modules.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489572"/>
            <a:ext cx="5544820" cy="906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Epic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2:</a:t>
            </a:r>
            <a:r>
              <a:rPr sz="2300" b="1" spc="-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Project</a:t>
            </a:r>
            <a:r>
              <a:rPr sz="2300" b="1" spc="-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Setup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Configuration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700" b="1" dirty="0">
                <a:latin typeface="Arial"/>
                <a:cs typeface="Arial"/>
              </a:rPr>
              <a:t>Creating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Project</a:t>
            </a:r>
            <a:r>
              <a:rPr sz="1700" b="1" spc="-10" dirty="0">
                <a:latin typeface="Arial"/>
                <a:cs typeface="Arial"/>
              </a:rPr>
              <a:t> Folder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534503"/>
            <a:ext cx="4963160" cy="14306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66725" indent="-225425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466725" algn="l"/>
              </a:tabLst>
            </a:pPr>
            <a:r>
              <a:rPr sz="1100" dirty="0">
                <a:latin typeface="Microsoft Sans Serif"/>
                <a:cs typeface="Microsoft Sans Serif"/>
              </a:rPr>
              <a:t>Create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new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folder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named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AI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StudyBuddy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466725" indent="-22542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466725" algn="l"/>
              </a:tabLst>
            </a:pPr>
            <a:r>
              <a:rPr sz="1100" dirty="0">
                <a:latin typeface="Microsoft Sans Serif"/>
                <a:cs typeface="Microsoft Sans Serif"/>
              </a:rPr>
              <a:t>Open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project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folder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Visual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Studio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Code</a:t>
            </a:r>
            <a:r>
              <a:rPr sz="1100" spc="-20" dirty="0"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466725" indent="-22542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66725" algn="l"/>
              </a:tabLst>
            </a:pPr>
            <a:r>
              <a:rPr sz="1100" dirty="0">
                <a:latin typeface="Microsoft Sans Serif"/>
                <a:cs typeface="Microsoft Sans Serif"/>
              </a:rPr>
              <a:t>Initialize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project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using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Node.js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install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required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dependencies.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Project</a:t>
            </a:r>
            <a:r>
              <a:rPr sz="1700" b="1" spc="-10" dirty="0">
                <a:latin typeface="Arial"/>
                <a:cs typeface="Arial"/>
              </a:rPr>
              <a:t> Initialization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200" dirty="0">
                <a:latin typeface="Microsoft Sans Serif"/>
                <a:cs typeface="Microsoft Sans Serif"/>
              </a:rPr>
              <a:t>Open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project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folder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VS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Code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terminal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execute: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704" y="9119616"/>
            <a:ext cx="5734685" cy="329565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5334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npm</a:t>
            </a:r>
            <a:r>
              <a:rPr sz="1200" spc="-15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init </a:t>
            </a:r>
            <a:r>
              <a:rPr sz="1200" spc="-10" dirty="0">
                <a:solidFill>
                  <a:srgbClr val="F8F8F1"/>
                </a:solidFill>
                <a:latin typeface="Microsoft Sans Serif"/>
                <a:cs typeface="Microsoft Sans Serif"/>
              </a:rPr>
              <a:t>-</a:t>
            </a:r>
            <a:r>
              <a:rPr sz="1200" spc="-50" dirty="0">
                <a:solidFill>
                  <a:srgbClr val="F8F8F1"/>
                </a:solidFill>
                <a:latin typeface="Microsoft Sans Serif"/>
                <a:cs typeface="Microsoft Sans Serif"/>
              </a:rPr>
              <a:t>y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9577831"/>
            <a:ext cx="2312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icrosoft Sans Serif"/>
                <a:cs typeface="Microsoft Sans Serif"/>
              </a:rPr>
              <a:t>Install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required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dependencies: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04" y="914349"/>
            <a:ext cx="5734685" cy="530860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34925" rIns="0" bIns="0" rtlCol="0">
            <a:spAutoFit/>
          </a:bodyPr>
          <a:lstStyle/>
          <a:p>
            <a:pPr marL="63500" marR="767715">
              <a:lnSpc>
                <a:spcPct val="110000"/>
              </a:lnSpc>
              <a:spcBef>
                <a:spcPts val="275"/>
              </a:spcBef>
            </a:pP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npm</a:t>
            </a:r>
            <a:r>
              <a:rPr sz="1200" spc="-25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install</a:t>
            </a:r>
            <a:r>
              <a:rPr sz="1200" spc="-25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express</a:t>
            </a:r>
            <a:r>
              <a:rPr sz="1200" spc="-20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mongoose</a:t>
            </a:r>
            <a:r>
              <a:rPr sz="1200" spc="-15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bcryptjs</a:t>
            </a:r>
            <a:r>
              <a:rPr sz="1200" spc="-20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jsonwebtoken</a:t>
            </a:r>
            <a:r>
              <a:rPr sz="1200" spc="-15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cors</a:t>
            </a:r>
            <a:r>
              <a:rPr sz="1200" spc="-20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dotenv</a:t>
            </a:r>
            <a:r>
              <a:rPr sz="1200" spc="-30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8F8F1"/>
                </a:solidFill>
                <a:latin typeface="Microsoft Sans Serif"/>
                <a:cs typeface="Microsoft Sans Serif"/>
              </a:rPr>
              <a:t>multer @google/genai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574038"/>
            <a:ext cx="2303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icrosoft Sans Serif"/>
                <a:cs typeface="Microsoft Sans Serif"/>
              </a:rPr>
              <a:t>Install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Nodemon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10" dirty="0">
                <a:latin typeface="Microsoft Sans Serif"/>
                <a:cs typeface="Microsoft Sans Serif"/>
              </a:rPr>
              <a:t> development: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704" y="1938781"/>
            <a:ext cx="5734685" cy="329565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5334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npm install</a:t>
            </a:r>
            <a:r>
              <a:rPr sz="1200" spc="5" dirty="0">
                <a:solidFill>
                  <a:srgbClr val="F8F8F1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8F8F1"/>
                </a:solidFill>
                <a:latin typeface="Microsoft Sans Serif"/>
                <a:cs typeface="Microsoft Sans Serif"/>
              </a:rPr>
              <a:t>--save-</a:t>
            </a:r>
            <a:r>
              <a:rPr sz="1200" dirty="0">
                <a:solidFill>
                  <a:srgbClr val="F8F8F1"/>
                </a:solidFill>
                <a:latin typeface="Microsoft Sans Serif"/>
                <a:cs typeface="Microsoft Sans Serif"/>
              </a:rPr>
              <a:t>dev</a:t>
            </a:r>
            <a:r>
              <a:rPr sz="1200" spc="-10" dirty="0">
                <a:solidFill>
                  <a:srgbClr val="F8F8F1"/>
                </a:solidFill>
                <a:latin typeface="Microsoft Sans Serif"/>
                <a:cs typeface="Microsoft Sans Serif"/>
              </a:rPr>
              <a:t> nodemon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2465577"/>
            <a:ext cx="3888740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Create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Following</a:t>
            </a:r>
            <a:r>
              <a:rPr sz="1700" b="1" spc="-20" dirty="0">
                <a:latin typeface="Arial"/>
                <a:cs typeface="Arial"/>
              </a:rPr>
              <a:t> Files</a:t>
            </a:r>
            <a:endParaRPr sz="17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335"/>
              </a:spcBef>
              <a:buChar char="●"/>
              <a:tabLst>
                <a:tab pos="469265" algn="l"/>
              </a:tabLst>
            </a:pPr>
            <a:r>
              <a:rPr sz="1200" spc="-10" dirty="0">
                <a:latin typeface="Microsoft Sans Serif"/>
                <a:cs typeface="Microsoft Sans Serif"/>
              </a:rPr>
              <a:t>index.js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35"/>
              </a:spcBef>
              <a:buChar char="●"/>
              <a:tabLst>
                <a:tab pos="469265" algn="l"/>
              </a:tabLst>
            </a:pPr>
            <a:r>
              <a:rPr sz="1200" spc="-20" dirty="0">
                <a:latin typeface="Microsoft Sans Serif"/>
                <a:cs typeface="Microsoft Sans Serif"/>
              </a:rPr>
              <a:t>.env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45"/>
              </a:spcBef>
              <a:buChar char="●"/>
              <a:tabLst>
                <a:tab pos="469265" algn="l"/>
              </a:tabLst>
            </a:pPr>
            <a:r>
              <a:rPr sz="1200" spc="-10" dirty="0">
                <a:latin typeface="Microsoft Sans Serif"/>
                <a:cs typeface="Microsoft Sans Serif"/>
              </a:rPr>
              <a:t>package.json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60"/>
              </a:spcBef>
              <a:buChar char="●"/>
              <a:tabLst>
                <a:tab pos="469265" algn="l"/>
              </a:tabLst>
            </a:pPr>
            <a:r>
              <a:rPr sz="1200" spc="-10" dirty="0">
                <a:latin typeface="Microsoft Sans Serif"/>
                <a:cs typeface="Microsoft Sans Serif"/>
              </a:rPr>
              <a:t>.gitignore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Arial"/>
                <a:cs typeface="Arial"/>
              </a:rPr>
              <a:t>Create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Following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Folder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Structure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219955"/>
            <a:ext cx="2109470" cy="22491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2004" y="6683120"/>
            <a:ext cx="5114925" cy="17329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Environment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Configuration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1270"/>
              </a:spcBef>
            </a:pPr>
            <a:r>
              <a:rPr sz="1200" dirty="0">
                <a:latin typeface="Microsoft Sans Serif"/>
                <a:cs typeface="Microsoft Sans Serif"/>
              </a:rPr>
              <a:t>Create a </a:t>
            </a:r>
            <a:r>
              <a:rPr sz="1200" b="1" dirty="0">
                <a:latin typeface="Arial"/>
                <a:cs typeface="Arial"/>
              </a:rPr>
              <a:t>.env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file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 project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root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 configure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required</a:t>
            </a:r>
            <a:r>
              <a:rPr sz="1200" spc="-10" dirty="0">
                <a:latin typeface="Microsoft Sans Serif"/>
                <a:cs typeface="Microsoft Sans Serif"/>
              </a:rPr>
              <a:t> environment variables.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200" spc="-10" dirty="0">
                <a:latin typeface="Microsoft Sans Serif"/>
                <a:cs typeface="Microsoft Sans Serif"/>
              </a:rPr>
              <a:t>PORT=5000</a:t>
            </a:r>
            <a:endParaRPr sz="1200">
              <a:latin typeface="Microsoft Sans Serif"/>
              <a:cs typeface="Microsoft Sans Serif"/>
            </a:endParaRPr>
          </a:p>
          <a:p>
            <a:pPr marL="12700" marR="1771650">
              <a:lnSpc>
                <a:spcPct val="103299"/>
              </a:lnSpc>
            </a:pPr>
            <a:r>
              <a:rPr sz="1200" spc="-10" dirty="0">
                <a:latin typeface="Microsoft Sans Serif"/>
                <a:cs typeface="Microsoft Sans Serif"/>
              </a:rPr>
              <a:t>MONGO_URI=your_mongodb_connection_string JWT_SECRET=your_jwt_secret GEMINI_API_KEY=your_gemini_api_key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6713"/>
            <a:ext cx="5758815" cy="1862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Epic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3: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Backend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Development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3499"/>
              </a:lnSpc>
              <a:spcBef>
                <a:spcPts val="1250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105" dirty="0">
                <a:latin typeface="Microsoft Sans Serif"/>
                <a:cs typeface="Microsoft Sans Serif"/>
              </a:rPr>
              <a:t>  </a:t>
            </a: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100" dirty="0">
                <a:latin typeface="Microsoft Sans Serif"/>
                <a:cs typeface="Microsoft Sans Serif"/>
              </a:rPr>
              <a:t>  </a:t>
            </a:r>
            <a:r>
              <a:rPr sz="1200" dirty="0">
                <a:latin typeface="Microsoft Sans Serif"/>
                <a:cs typeface="Microsoft Sans Serif"/>
              </a:rPr>
              <a:t>StudyBuddy</a:t>
            </a:r>
            <a:r>
              <a:rPr sz="1200" spc="240" dirty="0">
                <a:latin typeface="Microsoft Sans Serif"/>
                <a:cs typeface="Microsoft Sans Serif"/>
              </a:rPr>
              <a:t>  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110" dirty="0">
                <a:latin typeface="Microsoft Sans Serif"/>
                <a:cs typeface="Microsoft Sans Serif"/>
              </a:rPr>
              <a:t>  </a:t>
            </a:r>
            <a:r>
              <a:rPr sz="1200" dirty="0">
                <a:latin typeface="Microsoft Sans Serif"/>
                <a:cs typeface="Microsoft Sans Serif"/>
              </a:rPr>
              <a:t>is</a:t>
            </a:r>
            <a:r>
              <a:rPr sz="1200" spc="100" dirty="0">
                <a:latin typeface="Microsoft Sans Serif"/>
                <a:cs typeface="Microsoft Sans Serif"/>
              </a:rPr>
              <a:t>  </a:t>
            </a:r>
            <a:r>
              <a:rPr sz="1200" dirty="0">
                <a:latin typeface="Microsoft Sans Serif"/>
                <a:cs typeface="Microsoft Sans Serif"/>
              </a:rPr>
              <a:t>developed</a:t>
            </a:r>
            <a:r>
              <a:rPr sz="1200" spc="105" dirty="0">
                <a:latin typeface="Microsoft Sans Serif"/>
                <a:cs typeface="Microsoft Sans Serif"/>
              </a:rPr>
              <a:t>  </a:t>
            </a:r>
            <a:r>
              <a:rPr sz="1200" dirty="0">
                <a:latin typeface="Microsoft Sans Serif"/>
                <a:cs typeface="Microsoft Sans Serif"/>
              </a:rPr>
              <a:t>using</a:t>
            </a:r>
            <a:r>
              <a:rPr sz="1200" spc="120" dirty="0">
                <a:latin typeface="Microsoft Sans Serif"/>
                <a:cs typeface="Microsoft Sans Serif"/>
              </a:rPr>
              <a:t>  </a:t>
            </a:r>
            <a:r>
              <a:rPr sz="1200" b="1" dirty="0">
                <a:latin typeface="Arial"/>
                <a:cs typeface="Arial"/>
              </a:rPr>
              <a:t>Node.js</a:t>
            </a:r>
            <a:r>
              <a:rPr sz="1200" dirty="0">
                <a:latin typeface="Microsoft Sans Serif"/>
                <a:cs typeface="Microsoft Sans Serif"/>
              </a:rPr>
              <a:t>,</a:t>
            </a:r>
            <a:r>
              <a:rPr sz="1200" spc="105" dirty="0">
                <a:latin typeface="Microsoft Sans Serif"/>
                <a:cs typeface="Microsoft Sans Serif"/>
              </a:rPr>
              <a:t>  </a:t>
            </a:r>
            <a:r>
              <a:rPr sz="1200" b="1" dirty="0">
                <a:latin typeface="Arial"/>
                <a:cs typeface="Arial"/>
              </a:rPr>
              <a:t>Express.js</a:t>
            </a:r>
            <a:r>
              <a:rPr sz="1200" dirty="0">
                <a:latin typeface="Microsoft Sans Serif"/>
                <a:cs typeface="Microsoft Sans Serif"/>
              </a:rPr>
              <a:t>,</a:t>
            </a:r>
            <a:r>
              <a:rPr sz="1200" spc="105" dirty="0">
                <a:latin typeface="Microsoft Sans Serif"/>
                <a:cs typeface="Microsoft Sans Serif"/>
              </a:rPr>
              <a:t>  </a:t>
            </a:r>
            <a:r>
              <a:rPr sz="1200" spc="-25" dirty="0">
                <a:latin typeface="Microsoft Sans Serif"/>
                <a:cs typeface="Microsoft Sans Serif"/>
              </a:rPr>
              <a:t>and </a:t>
            </a:r>
            <a:r>
              <a:rPr sz="1200" b="1" dirty="0">
                <a:latin typeface="Arial"/>
                <a:cs typeface="Arial"/>
              </a:rPr>
              <a:t>MongoDB</a:t>
            </a:r>
            <a:r>
              <a:rPr sz="1200" dirty="0">
                <a:latin typeface="Microsoft Sans Serif"/>
                <a:cs typeface="Microsoft Sans Serif"/>
              </a:rPr>
              <a:t>,</a:t>
            </a:r>
            <a:r>
              <a:rPr sz="1200" spc="3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following</a:t>
            </a:r>
            <a:r>
              <a:rPr sz="1200" spc="3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</a:t>
            </a:r>
            <a:r>
              <a:rPr sz="1200" spc="3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modular</a:t>
            </a:r>
            <a:r>
              <a:rPr sz="1200" spc="3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architecture.</a:t>
            </a:r>
            <a:r>
              <a:rPr sz="1200" spc="3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3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application</a:t>
            </a:r>
            <a:r>
              <a:rPr sz="1200" spc="3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separates</a:t>
            </a:r>
            <a:r>
              <a:rPr sz="1200" spc="36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routing, </a:t>
            </a:r>
            <a:r>
              <a:rPr sz="1200" dirty="0">
                <a:latin typeface="Microsoft Sans Serif"/>
                <a:cs typeface="Microsoft Sans Serif"/>
              </a:rPr>
              <a:t>controllers,</a:t>
            </a:r>
            <a:r>
              <a:rPr sz="1200" spc="6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middleware,</a:t>
            </a:r>
            <a:r>
              <a:rPr sz="1200" spc="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models,</a:t>
            </a:r>
            <a:r>
              <a:rPr sz="1200" spc="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utility</a:t>
            </a:r>
            <a:r>
              <a:rPr sz="1200" spc="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modules</a:t>
            </a:r>
            <a:r>
              <a:rPr sz="1200" spc="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8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improve</a:t>
            </a:r>
            <a:r>
              <a:rPr sz="1200" spc="8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code</a:t>
            </a:r>
            <a:r>
              <a:rPr sz="1200" spc="6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maintainability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scalability.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16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exposes</a:t>
            </a:r>
            <a:r>
              <a:rPr sz="1200" spc="16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secure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REST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APIs</a:t>
            </a:r>
            <a:r>
              <a:rPr sz="1200" spc="16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1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authentication,</a:t>
            </a:r>
            <a:r>
              <a:rPr sz="1200" spc="16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study material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management,</a:t>
            </a:r>
            <a:r>
              <a:rPr sz="120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AI-</a:t>
            </a:r>
            <a:r>
              <a:rPr sz="1200" dirty="0">
                <a:latin typeface="Microsoft Sans Serif"/>
                <a:cs typeface="Microsoft Sans Serif"/>
              </a:rPr>
              <a:t>powered content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generation,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administrative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operations.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Backend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Structure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811906"/>
            <a:ext cx="2423795" cy="44147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126729"/>
            <a:ext cx="5730875" cy="158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Core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System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Script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Implementations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300" b="1" dirty="0">
                <a:latin typeface="Arial"/>
                <a:cs typeface="Arial"/>
              </a:rPr>
              <a:t>1.</a:t>
            </a:r>
            <a:r>
              <a:rPr sz="1300" b="1" spc="-2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Application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Entry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Point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(</a:t>
            </a:r>
            <a:r>
              <a:rPr sz="1300" b="1" spc="-10" dirty="0">
                <a:solidFill>
                  <a:srgbClr val="178038"/>
                </a:solidFill>
                <a:latin typeface="Arial"/>
                <a:cs typeface="Arial"/>
              </a:rPr>
              <a:t>index.js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1220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Arial"/>
                <a:cs typeface="Arial"/>
              </a:rPr>
              <a:t>index.js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file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serves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main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entry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point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of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application.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It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initializes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the </a:t>
            </a:r>
            <a:r>
              <a:rPr sz="1200" dirty="0">
                <a:latin typeface="Microsoft Sans Serif"/>
                <a:cs typeface="Microsoft Sans Serif"/>
              </a:rPr>
              <a:t>Express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server,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loads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environment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variables,</a:t>
            </a:r>
            <a:r>
              <a:rPr sz="1200" spc="-3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configures</a:t>
            </a:r>
            <a:r>
              <a:rPr sz="1200" spc="-3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middleware,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establishes</a:t>
            </a:r>
            <a:r>
              <a:rPr sz="1200" spc="-40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the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connection,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registers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routes,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starts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server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after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successful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-10" dirty="0">
                <a:latin typeface="Microsoft Sans Serif"/>
                <a:cs typeface="Microsoft Sans Serif"/>
              </a:rPr>
              <a:t> connection.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730875" cy="482574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2004" y="5908928"/>
            <a:ext cx="5631180" cy="94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2.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Database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Connection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(</a:t>
            </a:r>
            <a:r>
              <a:rPr sz="1300" b="1" spc="-10" dirty="0">
                <a:solidFill>
                  <a:srgbClr val="178038"/>
                </a:solidFill>
                <a:latin typeface="Arial"/>
                <a:cs typeface="Arial"/>
              </a:rPr>
              <a:t>src/utils/db.js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1215"/>
              </a:spcBef>
            </a:pPr>
            <a:r>
              <a:rPr sz="1200" dirty="0">
                <a:latin typeface="Microsoft Sans Serif"/>
                <a:cs typeface="Microsoft Sans Serif"/>
              </a:rPr>
              <a:t>This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module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establishes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connection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between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application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using </a:t>
            </a:r>
            <a:r>
              <a:rPr sz="1200" dirty="0">
                <a:latin typeface="Microsoft Sans Serif"/>
                <a:cs typeface="Microsoft Sans Serif"/>
              </a:rPr>
              <a:t>Mongoose.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It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ensures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that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communicates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with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before </a:t>
            </a:r>
            <a:r>
              <a:rPr sz="1200" dirty="0">
                <a:latin typeface="Microsoft Sans Serif"/>
                <a:cs typeface="Microsoft Sans Serif"/>
              </a:rPr>
              <a:t>processing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client</a:t>
            </a:r>
            <a:r>
              <a:rPr sz="1200" spc="-10" dirty="0">
                <a:latin typeface="Microsoft Sans Serif"/>
                <a:cs typeface="Microsoft Sans Serif"/>
              </a:rPr>
              <a:t> requests.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009091"/>
            <a:ext cx="5730875" cy="25398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2"/>
            <a:ext cx="5711825" cy="946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3.</a:t>
            </a:r>
            <a:r>
              <a:rPr sz="1300" b="1" spc="1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Authentication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Middleware</a:t>
            </a:r>
            <a:r>
              <a:rPr sz="1300" b="1" spc="-10" dirty="0">
                <a:latin typeface="Arial"/>
                <a:cs typeface="Arial"/>
              </a:rPr>
              <a:t> (</a:t>
            </a:r>
            <a:r>
              <a:rPr sz="1300" b="1" spc="-10" dirty="0">
                <a:solidFill>
                  <a:srgbClr val="178038"/>
                </a:solidFill>
                <a:latin typeface="Arial"/>
                <a:cs typeface="Arial"/>
              </a:rPr>
              <a:t>src/middleware/auth.js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1230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authentication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middleware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verifies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JWT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access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tokens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protected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routes.</a:t>
            </a:r>
            <a:r>
              <a:rPr sz="1200" spc="-25" dirty="0">
                <a:latin typeface="Microsoft Sans Serif"/>
                <a:cs typeface="Microsoft Sans Serif"/>
              </a:rPr>
              <a:t> It </a:t>
            </a:r>
            <a:r>
              <a:rPr sz="1200" dirty="0">
                <a:latin typeface="Microsoft Sans Serif"/>
                <a:cs typeface="Microsoft Sans Serif"/>
              </a:rPr>
              <a:t>authenticates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before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granting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access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secured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includes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role-</a:t>
            </a:r>
            <a:r>
              <a:rPr sz="1200" spc="-10" dirty="0">
                <a:latin typeface="Microsoft Sans Serif"/>
                <a:cs typeface="Microsoft Sans Serif"/>
              </a:rPr>
              <a:t>based </a:t>
            </a:r>
            <a:r>
              <a:rPr sz="1200" dirty="0">
                <a:latin typeface="Microsoft Sans Serif"/>
                <a:cs typeface="Microsoft Sans Serif"/>
              </a:rPr>
              <a:t>authorization</a:t>
            </a:r>
            <a:r>
              <a:rPr sz="1200" spc="-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restrict</a:t>
            </a:r>
            <a:r>
              <a:rPr sz="1200" spc="-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administrative</a:t>
            </a:r>
            <a:r>
              <a:rPr sz="1200" spc="-4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operations.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991867"/>
            <a:ext cx="5733415" cy="36178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5777865"/>
            <a:ext cx="5593080" cy="94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4.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AI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Integration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(</a:t>
            </a:r>
            <a:r>
              <a:rPr sz="1300" b="1" spc="-10" dirty="0">
                <a:solidFill>
                  <a:srgbClr val="178038"/>
                </a:solidFill>
                <a:latin typeface="Arial"/>
                <a:cs typeface="Arial"/>
              </a:rPr>
              <a:t>src/utils/gemini.js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1215"/>
              </a:spcBef>
            </a:pPr>
            <a:r>
              <a:rPr sz="1200" dirty="0">
                <a:latin typeface="Microsoft Sans Serif"/>
                <a:cs typeface="Microsoft Sans Serif"/>
              </a:rPr>
              <a:t>This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utility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integrates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with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10" dirty="0"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Arial"/>
                <a:cs typeface="Arial"/>
              </a:rPr>
              <a:t>Google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Gemini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2.5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Flash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API</a:t>
            </a:r>
            <a:r>
              <a:rPr sz="1200" dirty="0">
                <a:latin typeface="Microsoft Sans Serif"/>
                <a:cs typeface="Microsoft Sans Serif"/>
              </a:rPr>
              <a:t>.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sends </a:t>
            </a:r>
            <a:r>
              <a:rPr sz="1200" dirty="0">
                <a:latin typeface="Microsoft Sans Serif"/>
                <a:cs typeface="Microsoft Sans Serif"/>
              </a:rPr>
              <a:t>prompts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 the AI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model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returns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generated responses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summaries, </a:t>
            </a:r>
            <a:r>
              <a:rPr sz="1200" dirty="0">
                <a:latin typeface="Microsoft Sans Serif"/>
                <a:cs typeface="Microsoft Sans Serif"/>
              </a:rPr>
              <a:t>flashcards,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quizzes,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plans.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878319"/>
            <a:ext cx="5730875" cy="21842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2004" y="9231883"/>
            <a:ext cx="41713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5.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File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Upload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Middleware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(</a:t>
            </a:r>
            <a:r>
              <a:rPr sz="1300" b="1" spc="-10" dirty="0">
                <a:solidFill>
                  <a:srgbClr val="178038"/>
                </a:solidFill>
                <a:latin typeface="Arial"/>
                <a:cs typeface="Arial"/>
              </a:rPr>
              <a:t>src/middleware/upload.js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656580" cy="397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middleware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handles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material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uploads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validates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incoming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files </a:t>
            </a:r>
            <a:r>
              <a:rPr sz="1200" dirty="0">
                <a:latin typeface="Microsoft Sans Serif"/>
                <a:cs typeface="Microsoft Sans Serif"/>
              </a:rPr>
              <a:t>before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they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are processed by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 </a:t>
            </a:r>
            <a:r>
              <a:rPr sz="1200" spc="-10" dirty="0">
                <a:latin typeface="Microsoft Sans Serif"/>
                <a:cs typeface="Microsoft Sans Serif"/>
              </a:rPr>
              <a:t>backend.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34235"/>
            <a:ext cx="5730875" cy="3504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5446391"/>
            <a:ext cx="2550160" cy="55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b="1" dirty="0">
                <a:latin typeface="Arial"/>
                <a:cs typeface="Arial"/>
              </a:rPr>
              <a:t>Backend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Development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Demo: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200" u="sng" spc="-1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Microsoft Sans Serif"/>
                <a:cs typeface="Microsoft Sans Serif"/>
                <a:hlinkClick r:id="rId3"/>
              </a:rPr>
              <a:t>AI_Studybuddy_Backend_Demo.mkv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703314"/>
            <a:ext cx="5759450" cy="2116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Epic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4: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Database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Configuration</a:t>
            </a:r>
            <a:endParaRPr sz="1700">
              <a:latin typeface="Arial"/>
              <a:cs typeface="Arial"/>
            </a:endParaRPr>
          </a:p>
          <a:p>
            <a:pPr marL="12700" marR="5080" algn="just">
              <a:lnSpc>
                <a:spcPct val="103299"/>
              </a:lnSpc>
              <a:spcBef>
                <a:spcPts val="1265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10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10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StudyBuddy</a:t>
            </a:r>
            <a:r>
              <a:rPr sz="1200" spc="110" dirty="0">
                <a:latin typeface="Microsoft Sans Serif"/>
                <a:cs typeface="Microsoft Sans Serif"/>
              </a:rPr>
              <a:t> 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114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uses</a:t>
            </a:r>
            <a:r>
              <a:rPr sz="1200" spc="145" dirty="0"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Arial"/>
                <a:cs typeface="Arial"/>
              </a:rPr>
              <a:t>MongoDB</a:t>
            </a:r>
            <a:r>
              <a:rPr sz="1200" b="1" spc="100" dirty="0">
                <a:latin typeface="Arial"/>
                <a:cs typeface="Arial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as</a:t>
            </a:r>
            <a:r>
              <a:rPr sz="1200" spc="114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its</a:t>
            </a:r>
            <a:r>
              <a:rPr sz="1200" spc="1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primary</a:t>
            </a:r>
            <a:r>
              <a:rPr sz="1200" spc="1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NoSQL</a:t>
            </a:r>
            <a:r>
              <a:rPr sz="1200" spc="1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105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and </a:t>
            </a:r>
            <a:r>
              <a:rPr sz="1200" b="1" dirty="0">
                <a:latin typeface="Arial"/>
                <a:cs typeface="Arial"/>
              </a:rPr>
              <a:t>Mongoose</a:t>
            </a:r>
            <a:r>
              <a:rPr sz="1200" b="1" spc="1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ODM</a:t>
            </a:r>
            <a:r>
              <a:rPr sz="1200" b="1" spc="150" dirty="0">
                <a:latin typeface="Arial"/>
                <a:cs typeface="Arial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16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modeling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schema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validation.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18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stores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spc="-20" dirty="0">
                <a:latin typeface="Microsoft Sans Serif"/>
                <a:cs typeface="Microsoft Sans Serif"/>
              </a:rPr>
              <a:t>user </a:t>
            </a:r>
            <a:r>
              <a:rPr sz="1200" dirty="0">
                <a:latin typeface="Microsoft Sans Serif"/>
                <a:cs typeface="Microsoft Sans Serif"/>
              </a:rPr>
              <a:t>information,</a:t>
            </a:r>
            <a:r>
              <a:rPr sz="1200" spc="29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uploaded</a:t>
            </a:r>
            <a:r>
              <a:rPr sz="1200" spc="3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29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materials,</a:t>
            </a:r>
            <a:r>
              <a:rPr sz="1200" spc="29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3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AI-generated</a:t>
            </a:r>
            <a:r>
              <a:rPr sz="1200" spc="3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learning</a:t>
            </a:r>
            <a:r>
              <a:rPr sz="1200" spc="29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resources</a:t>
            </a:r>
            <a:r>
              <a:rPr sz="1200" spc="3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</a:t>
            </a:r>
            <a:r>
              <a:rPr sz="1200" spc="285" dirty="0">
                <a:latin typeface="Microsoft Sans Serif"/>
                <a:cs typeface="Microsoft Sans Serif"/>
              </a:rPr>
              <a:t> </a:t>
            </a:r>
            <a:r>
              <a:rPr sz="1200" spc="-50" dirty="0">
                <a:latin typeface="Microsoft Sans Serif"/>
                <a:cs typeface="Microsoft Sans Serif"/>
              </a:rPr>
              <a:t>a </a:t>
            </a:r>
            <a:r>
              <a:rPr sz="1200" dirty="0">
                <a:latin typeface="Microsoft Sans Serif"/>
                <a:cs typeface="Microsoft Sans Serif"/>
              </a:rPr>
              <a:t>structured</a:t>
            </a:r>
            <a:r>
              <a:rPr sz="1200" spc="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manner.</a:t>
            </a:r>
            <a:r>
              <a:rPr sz="1200" spc="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Mongoose</a:t>
            </a:r>
            <a:r>
              <a:rPr sz="1200" spc="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simplifies</a:t>
            </a:r>
            <a:r>
              <a:rPr sz="1200" spc="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operations</a:t>
            </a:r>
            <a:r>
              <a:rPr sz="1200" spc="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by</a:t>
            </a:r>
            <a:r>
              <a:rPr sz="1200" spc="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providing</a:t>
            </a:r>
            <a:r>
              <a:rPr sz="1200" spc="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schemas, </a:t>
            </a:r>
            <a:r>
              <a:rPr sz="1200" dirty="0">
                <a:latin typeface="Microsoft Sans Serif"/>
                <a:cs typeface="Microsoft Sans Serif"/>
              </a:rPr>
              <a:t>validation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rules,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efficient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query</a:t>
            </a:r>
            <a:r>
              <a:rPr sz="1200" spc="-3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handling.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Configure</a:t>
            </a:r>
            <a:r>
              <a:rPr sz="1300" b="1" spc="-6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MongoDB</a:t>
            </a:r>
            <a:endParaRPr sz="13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275"/>
              </a:spcBef>
            </a:pPr>
            <a:r>
              <a:rPr sz="1200" dirty="0">
                <a:latin typeface="Microsoft Sans Serif"/>
                <a:cs typeface="Microsoft Sans Serif"/>
              </a:rPr>
              <a:t>Install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Mongoose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using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following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command: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704" y="8974835"/>
            <a:ext cx="5734685" cy="334010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514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solidFill>
                  <a:srgbClr val="F8F8F1"/>
                </a:solidFill>
                <a:latin typeface="Consolas"/>
                <a:cs typeface="Consolas"/>
              </a:rPr>
              <a:t>npm</a:t>
            </a:r>
            <a:r>
              <a:rPr sz="1200" spc="-35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F8F8F1"/>
                </a:solidFill>
                <a:latin typeface="Consolas"/>
                <a:cs typeface="Consolas"/>
              </a:rPr>
              <a:t>install</a:t>
            </a:r>
            <a:r>
              <a:rPr sz="1200" spc="-35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F8F8F1"/>
                </a:solidFill>
                <a:latin typeface="Consolas"/>
                <a:cs typeface="Consolas"/>
              </a:rPr>
              <a:t>mongoose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9460483"/>
            <a:ext cx="2271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Create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Database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Connection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761990" cy="2216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6350" algn="just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Microsoft Sans Serif"/>
                <a:cs typeface="Microsoft Sans Serif"/>
              </a:rPr>
              <a:t>Before</a:t>
            </a:r>
            <a:r>
              <a:rPr sz="1200" spc="2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performing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any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operations,</a:t>
            </a:r>
            <a:r>
              <a:rPr sz="1200" spc="28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establish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connection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between</a:t>
            </a:r>
            <a:r>
              <a:rPr sz="1200" spc="275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the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using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Mongoose.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connection</a:t>
            </a:r>
            <a:r>
              <a:rPr sz="1200" spc="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module is initialized</a:t>
            </a:r>
            <a:r>
              <a:rPr sz="1200" spc="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during </a:t>
            </a:r>
            <a:r>
              <a:rPr sz="1200" dirty="0">
                <a:latin typeface="Microsoft Sans Serif"/>
                <a:cs typeface="Microsoft Sans Serif"/>
              </a:rPr>
              <a:t>server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startup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ensure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reliable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communication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with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database.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Mongoose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Schema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Definitions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300" b="1" dirty="0">
                <a:latin typeface="Arial"/>
                <a:cs typeface="Arial"/>
              </a:rPr>
              <a:t>1.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User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Schema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(</a:t>
            </a:r>
            <a:r>
              <a:rPr sz="1300" b="1" spc="-10" dirty="0">
                <a:latin typeface="Courier New"/>
                <a:cs typeface="Courier New"/>
              </a:rPr>
              <a:t>models/</a:t>
            </a:r>
            <a:r>
              <a:rPr sz="1300" b="1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hlinkClick r:id="rId2"/>
              </a:rPr>
              <a:t>User.js</a:t>
            </a:r>
            <a:r>
              <a:rPr sz="1300" b="1" spc="-10" dirty="0">
                <a:latin typeface="Arial"/>
                <a:cs typeface="Arial"/>
                <a:hlinkClick r:id="rId2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 marR="5080" algn="just">
              <a:lnSpc>
                <a:spcPct val="103400"/>
              </a:lnSpc>
              <a:spcBef>
                <a:spcPts val="1285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Arial"/>
                <a:cs typeface="Arial"/>
              </a:rPr>
              <a:t>User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schema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stores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authentication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profile</a:t>
            </a:r>
            <a:r>
              <a:rPr sz="1200" spc="-10" dirty="0">
                <a:latin typeface="Microsoft Sans Serif"/>
                <a:cs typeface="Microsoft Sans Serif"/>
              </a:rPr>
              <a:t> information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registered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users.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It </a:t>
            </a:r>
            <a:r>
              <a:rPr sz="1200" dirty="0">
                <a:latin typeface="Microsoft Sans Serif"/>
                <a:cs typeface="Microsoft Sans Serif"/>
              </a:rPr>
              <a:t>includes</a:t>
            </a:r>
            <a:r>
              <a:rPr sz="1200" spc="16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fields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such</a:t>
            </a:r>
            <a:r>
              <a:rPr sz="1200" spc="18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as</a:t>
            </a:r>
            <a:r>
              <a:rPr sz="1200" spc="18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name,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email,</a:t>
            </a:r>
            <a:r>
              <a:rPr sz="1200" spc="17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password,</a:t>
            </a:r>
            <a:r>
              <a:rPr sz="1200" spc="18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18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role.</a:t>
            </a:r>
            <a:r>
              <a:rPr sz="1200" spc="19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Passwords</a:t>
            </a:r>
            <a:r>
              <a:rPr sz="1200" spc="18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are</a:t>
            </a:r>
            <a:r>
              <a:rPr sz="1200" spc="17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securely </a:t>
            </a:r>
            <a:r>
              <a:rPr sz="1200" dirty="0">
                <a:latin typeface="Microsoft Sans Serif"/>
                <a:cs typeface="Microsoft Sans Serif"/>
              </a:rPr>
              <a:t>encrypted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before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being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stored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0" dirty="0">
                <a:latin typeface="Microsoft Sans Serif"/>
                <a:cs typeface="Microsoft Sans Serif"/>
              </a:rPr>
              <a:t> database.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263264"/>
            <a:ext cx="5328920" cy="32477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6701408"/>
            <a:ext cx="5756275" cy="954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2.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Study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Material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Schema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(</a:t>
            </a:r>
            <a:r>
              <a:rPr sz="1300" b="1" spc="-10" dirty="0">
                <a:latin typeface="Courier New"/>
                <a:cs typeface="Courier New"/>
              </a:rPr>
              <a:t>models/Material.js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12700" marR="5080" algn="just">
              <a:lnSpc>
                <a:spcPct val="103299"/>
              </a:lnSpc>
              <a:spcBef>
                <a:spcPts val="1290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220" dirty="0"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Arial"/>
                <a:cs typeface="Arial"/>
              </a:rPr>
              <a:t>Study</a:t>
            </a:r>
            <a:r>
              <a:rPr sz="1200" b="1" spc="17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Material</a:t>
            </a:r>
            <a:r>
              <a:rPr sz="1200" b="1" spc="215" dirty="0">
                <a:latin typeface="Arial"/>
                <a:cs typeface="Arial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schema</a:t>
            </a:r>
            <a:r>
              <a:rPr sz="1200" spc="2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stores</a:t>
            </a:r>
            <a:r>
              <a:rPr sz="1200" spc="2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2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learning</a:t>
            </a:r>
            <a:r>
              <a:rPr sz="1200" spc="2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content</a:t>
            </a:r>
            <a:r>
              <a:rPr sz="1200" spc="2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uploaded</a:t>
            </a:r>
            <a:r>
              <a:rPr sz="1200" spc="2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by</a:t>
            </a:r>
            <a:r>
              <a:rPr sz="1200" spc="2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users.</a:t>
            </a:r>
            <a:r>
              <a:rPr sz="1200" spc="204" dirty="0">
                <a:latin typeface="Microsoft Sans Serif"/>
                <a:cs typeface="Microsoft Sans Serif"/>
              </a:rPr>
              <a:t> </a:t>
            </a:r>
            <a:r>
              <a:rPr sz="1200" spc="-20" dirty="0">
                <a:latin typeface="Microsoft Sans Serif"/>
                <a:cs typeface="Microsoft Sans Serif"/>
              </a:rPr>
              <a:t>This </a:t>
            </a:r>
            <a:r>
              <a:rPr sz="1200" dirty="0">
                <a:latin typeface="Microsoft Sans Serif"/>
                <a:cs typeface="Microsoft Sans Serif"/>
              </a:rPr>
              <a:t>content</a:t>
            </a:r>
            <a:r>
              <a:rPr sz="1200" spc="3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acts</a:t>
            </a:r>
            <a:r>
              <a:rPr sz="1200" spc="3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as</a:t>
            </a:r>
            <a:r>
              <a:rPr sz="1200" spc="3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3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input</a:t>
            </a:r>
            <a:r>
              <a:rPr sz="1200" spc="3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3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AI-powered</a:t>
            </a:r>
            <a:r>
              <a:rPr sz="1200" spc="3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features</a:t>
            </a:r>
            <a:r>
              <a:rPr sz="1200" spc="3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such</a:t>
            </a:r>
            <a:r>
              <a:rPr sz="1200" spc="3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as</a:t>
            </a:r>
            <a:r>
              <a:rPr sz="1200" spc="3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summaries,</a:t>
            </a:r>
            <a:r>
              <a:rPr sz="1200" spc="3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quizzes, </a:t>
            </a:r>
            <a:r>
              <a:rPr sz="1200" dirty="0">
                <a:latin typeface="Microsoft Sans Serif"/>
                <a:cs typeface="Microsoft Sans Serif"/>
              </a:rPr>
              <a:t>flashcards,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 study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plans.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730875" cy="434314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2004" y="5427345"/>
            <a:ext cx="5560695" cy="4110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Database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Collections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StudyBuddy</a:t>
            </a:r>
            <a:r>
              <a:rPr sz="1200" spc="3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consists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of 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following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collections: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12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200" b="1" dirty="0">
                <a:latin typeface="Arial"/>
                <a:cs typeface="Arial"/>
              </a:rPr>
              <a:t>Users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spc="315" dirty="0">
                <a:latin typeface="Microsoft Sans Serif"/>
                <a:cs typeface="Microsoft Sans Serif"/>
              </a:rPr>
              <a:t>–</a:t>
            </a:r>
            <a:r>
              <a:rPr sz="1200" dirty="0">
                <a:latin typeface="Microsoft Sans Serif"/>
                <a:cs typeface="Microsoft Sans Serif"/>
              </a:rPr>
              <a:t> Stores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account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authentication </a:t>
            </a:r>
            <a:r>
              <a:rPr sz="1200" spc="-10" dirty="0">
                <a:latin typeface="Microsoft Sans Serif"/>
                <a:cs typeface="Microsoft Sans Serif"/>
              </a:rPr>
              <a:t>details.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4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200" b="1" dirty="0">
                <a:latin typeface="Arial"/>
                <a:cs typeface="Arial"/>
              </a:rPr>
              <a:t>Study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Materials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spc="315" dirty="0">
                <a:latin typeface="Microsoft Sans Serif"/>
                <a:cs typeface="Microsoft Sans Serif"/>
              </a:rPr>
              <a:t>–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Stores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learning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materials.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API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Route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Interface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Endpoints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exposes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RESTful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APIs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interact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with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database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services.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98120" indent="-185420">
              <a:lnSpc>
                <a:spcPct val="100000"/>
              </a:lnSpc>
              <a:buFont typeface="Arial"/>
              <a:buAutoNum type="arabicPeriod"/>
              <a:tabLst>
                <a:tab pos="198120" algn="l"/>
              </a:tabLst>
            </a:pPr>
            <a:r>
              <a:rPr sz="1300" b="1" spc="-10" dirty="0">
                <a:latin typeface="Arial"/>
                <a:cs typeface="Arial"/>
              </a:rPr>
              <a:t>Authentication</a:t>
            </a:r>
            <a:r>
              <a:rPr sz="1300" b="1" spc="4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APIs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200" dirty="0">
                <a:latin typeface="Microsoft Sans Serif"/>
                <a:cs typeface="Microsoft Sans Serif"/>
              </a:rPr>
              <a:t>Handles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 registration, login, JWT</a:t>
            </a:r>
            <a:r>
              <a:rPr sz="1200" spc="-10" dirty="0">
                <a:latin typeface="Microsoft Sans Serif"/>
                <a:cs typeface="Microsoft Sans Serif"/>
              </a:rPr>
              <a:t> authentication, </a:t>
            </a:r>
            <a:r>
              <a:rPr sz="1200" dirty="0">
                <a:latin typeface="Microsoft Sans Serif"/>
                <a:cs typeface="Microsoft Sans Serif"/>
              </a:rPr>
              <a:t>and protected route</a:t>
            </a:r>
            <a:r>
              <a:rPr sz="1200" spc="-10" dirty="0">
                <a:latin typeface="Microsoft Sans Serif"/>
                <a:cs typeface="Microsoft Sans Serif"/>
              </a:rPr>
              <a:t> access.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94945" indent="-182245">
              <a:lnSpc>
                <a:spcPct val="100000"/>
              </a:lnSpc>
              <a:buFont typeface="Arial"/>
              <a:buAutoNum type="arabicPeriod" startAt="2"/>
              <a:tabLst>
                <a:tab pos="194945" algn="l"/>
              </a:tabLst>
            </a:pPr>
            <a:r>
              <a:rPr sz="1300" b="1" dirty="0">
                <a:latin typeface="Arial"/>
                <a:cs typeface="Arial"/>
              </a:rPr>
              <a:t>Study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Material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APIs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200" dirty="0">
                <a:latin typeface="Microsoft Sans Serif"/>
                <a:cs typeface="Microsoft Sans Serif"/>
              </a:rPr>
              <a:t>Allows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upload,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retrieve,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update,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manage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materials.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98120" indent="-185420">
              <a:lnSpc>
                <a:spcPct val="100000"/>
              </a:lnSpc>
              <a:buFont typeface="Arial"/>
              <a:buAutoNum type="arabicPeriod" startAt="3"/>
              <a:tabLst>
                <a:tab pos="198120" algn="l"/>
              </a:tabLst>
            </a:pPr>
            <a:r>
              <a:rPr sz="1300" b="1" dirty="0">
                <a:latin typeface="Arial"/>
                <a:cs typeface="Arial"/>
              </a:rPr>
              <a:t>AI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Feature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APIs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200" dirty="0">
                <a:latin typeface="Microsoft Sans Serif"/>
                <a:cs typeface="Microsoft Sans Serif"/>
              </a:rPr>
              <a:t>Provides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endpoints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spc="-20" dirty="0">
                <a:latin typeface="Microsoft Sans Serif"/>
                <a:cs typeface="Microsoft Sans Serif"/>
              </a:rPr>
              <a:t>for: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761990" cy="381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Summary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Generation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45"/>
              </a:spcBef>
              <a:buChar char="●"/>
              <a:tabLst>
                <a:tab pos="469265" algn="l"/>
              </a:tabLst>
            </a:pP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Flashcard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Generation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Char char="●"/>
              <a:tabLst>
                <a:tab pos="469265" algn="l"/>
              </a:tabLst>
            </a:pP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Quiz</a:t>
            </a:r>
            <a:r>
              <a:rPr sz="1200" spc="-10" dirty="0">
                <a:latin typeface="Microsoft Sans Serif"/>
                <a:cs typeface="Microsoft Sans Serif"/>
              </a:rPr>
              <a:t> Generation</a:t>
            </a:r>
            <a:endParaRPr sz="1200">
              <a:latin typeface="Microsoft Sans Serif"/>
              <a:cs typeface="Microsoft Sans Serif"/>
            </a:endParaRPr>
          </a:p>
          <a:p>
            <a:pPr marL="469265" indent="-227965">
              <a:lnSpc>
                <a:spcPct val="100000"/>
              </a:lnSpc>
              <a:spcBef>
                <a:spcPts val="50"/>
              </a:spcBef>
              <a:buChar char="●"/>
              <a:tabLst>
                <a:tab pos="469265" algn="l"/>
              </a:tabLst>
            </a:pPr>
            <a:r>
              <a:rPr sz="1200" dirty="0">
                <a:latin typeface="Microsoft Sans Serif"/>
                <a:cs typeface="Microsoft Sans Serif"/>
              </a:rPr>
              <a:t>AI Study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Plan</a:t>
            </a:r>
            <a:r>
              <a:rPr sz="1200" spc="1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Generation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4.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Administrative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APIs</a:t>
            </a:r>
            <a:endParaRPr sz="1300">
              <a:latin typeface="Arial"/>
              <a:cs typeface="Arial"/>
            </a:endParaRPr>
          </a:p>
          <a:p>
            <a:pPr marL="12700" marR="272415">
              <a:lnSpc>
                <a:spcPct val="103299"/>
              </a:lnSpc>
              <a:spcBef>
                <a:spcPts val="1230"/>
              </a:spcBef>
            </a:pPr>
            <a:r>
              <a:rPr sz="1200" dirty="0">
                <a:latin typeface="Microsoft Sans Serif"/>
                <a:cs typeface="Microsoft Sans Serif"/>
              </a:rPr>
              <a:t>Provides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administrator-</a:t>
            </a:r>
            <a:r>
              <a:rPr sz="1200" dirty="0">
                <a:latin typeface="Microsoft Sans Serif"/>
                <a:cs typeface="Microsoft Sans Serif"/>
              </a:rPr>
              <a:t>only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endpoints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managing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users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monitoring</a:t>
            </a:r>
            <a:r>
              <a:rPr sz="1200" spc="-10" dirty="0">
                <a:latin typeface="Microsoft Sans Serif"/>
                <a:cs typeface="Microsoft Sans Serif"/>
              </a:rPr>
              <a:t> system activities.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Arial"/>
                <a:cs typeface="Arial"/>
              </a:rPr>
              <a:t>Epic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5: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Project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Execution</a:t>
            </a:r>
            <a:endParaRPr sz="1700">
              <a:latin typeface="Arial"/>
              <a:cs typeface="Arial"/>
            </a:endParaRPr>
          </a:p>
          <a:p>
            <a:pPr marL="12700" marR="5080" algn="just">
              <a:lnSpc>
                <a:spcPct val="103299"/>
              </a:lnSpc>
              <a:spcBef>
                <a:spcPts val="1265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AI</a:t>
            </a:r>
            <a:r>
              <a:rPr sz="1200" spc="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StudyBuddy</a:t>
            </a:r>
            <a:r>
              <a:rPr sz="1200" spc="40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5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can</a:t>
            </a:r>
            <a:r>
              <a:rPr sz="1200" spc="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</a:t>
            </a:r>
            <a:r>
              <a:rPr sz="1200" spc="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executed</a:t>
            </a:r>
            <a:r>
              <a:rPr sz="1200" spc="5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locally</a:t>
            </a:r>
            <a:r>
              <a:rPr sz="1200" spc="3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using</a:t>
            </a:r>
            <a:r>
              <a:rPr sz="1200" spc="5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Node.js.</a:t>
            </a:r>
            <a:r>
              <a:rPr sz="1200" spc="5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Before</a:t>
            </a:r>
            <a:r>
              <a:rPr sz="1200" spc="4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running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3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application,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ensure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that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is</a:t>
            </a:r>
            <a:r>
              <a:rPr sz="1200" spc="33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running</a:t>
            </a:r>
            <a:r>
              <a:rPr sz="1200" spc="34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required</a:t>
            </a:r>
            <a:r>
              <a:rPr sz="1200" spc="34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environment </a:t>
            </a:r>
            <a:r>
              <a:rPr sz="1200" dirty="0">
                <a:latin typeface="Microsoft Sans Serif"/>
                <a:cs typeface="Microsoft Sans Serif"/>
              </a:rPr>
              <a:t>variables</a:t>
            </a:r>
            <a:r>
              <a:rPr sz="1200" spc="2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are</a:t>
            </a:r>
            <a:r>
              <a:rPr sz="1200" spc="204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configured</a:t>
            </a:r>
            <a:r>
              <a:rPr sz="1200" spc="2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correctly.</a:t>
            </a:r>
            <a:r>
              <a:rPr sz="1200" spc="2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2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</a:t>
            </a:r>
            <a:r>
              <a:rPr sz="1200" spc="19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exposes</a:t>
            </a:r>
            <a:r>
              <a:rPr sz="1200" spc="204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REST</a:t>
            </a:r>
            <a:r>
              <a:rPr sz="1200" spc="2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APIs</a:t>
            </a:r>
            <a:r>
              <a:rPr sz="1200" spc="2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that</a:t>
            </a:r>
            <a:r>
              <a:rPr sz="1200" spc="2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can</a:t>
            </a:r>
            <a:r>
              <a:rPr sz="1200" spc="210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be </a:t>
            </a:r>
            <a:r>
              <a:rPr sz="1200" dirty="0">
                <a:latin typeface="Microsoft Sans Serif"/>
                <a:cs typeface="Microsoft Sans Serif"/>
              </a:rPr>
              <a:t>tested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using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Postman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or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Thunder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Client.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</a:pPr>
            <a:r>
              <a:rPr sz="1300" b="1" dirty="0">
                <a:latin typeface="Arial"/>
                <a:cs typeface="Arial"/>
              </a:rPr>
              <a:t>Running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the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Backend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Server</a:t>
            </a:r>
            <a:endParaRPr sz="13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265"/>
              </a:spcBef>
            </a:pPr>
            <a:r>
              <a:rPr sz="1200" dirty="0">
                <a:latin typeface="Microsoft Sans Serif"/>
                <a:cs typeface="Microsoft Sans Serif"/>
              </a:rPr>
              <a:t>Install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all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required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dependencies: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04" y="4866716"/>
            <a:ext cx="5734685" cy="332740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5206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solidFill>
                  <a:srgbClr val="F8F8F1"/>
                </a:solidFill>
                <a:latin typeface="Consolas"/>
                <a:cs typeface="Consolas"/>
              </a:rPr>
              <a:t>npm</a:t>
            </a:r>
            <a:r>
              <a:rPr sz="1200" spc="-2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F8F8F1"/>
                </a:solidFill>
                <a:latin typeface="Consolas"/>
                <a:cs typeface="Consolas"/>
              </a:rPr>
              <a:t>install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328284"/>
            <a:ext cx="2021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icrosoft Sans Serif"/>
                <a:cs typeface="Microsoft Sans Serif"/>
              </a:rPr>
              <a:t>Start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development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server: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704" y="5693028"/>
            <a:ext cx="5734685" cy="332740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514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solidFill>
                  <a:srgbClr val="F8F8F1"/>
                </a:solidFill>
                <a:latin typeface="Consolas"/>
                <a:cs typeface="Consolas"/>
              </a:rPr>
              <a:t>npm</a:t>
            </a:r>
            <a:r>
              <a:rPr sz="1200" spc="-20" dirty="0">
                <a:solidFill>
                  <a:srgbClr val="F8F8F1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F8F8F1"/>
                </a:solidFill>
                <a:latin typeface="Consolas"/>
                <a:cs typeface="Consolas"/>
              </a:rPr>
              <a:t>start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6154292"/>
            <a:ext cx="5631180" cy="22599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Microsoft Sans Serif"/>
                <a:cs typeface="Microsoft Sans Serif"/>
              </a:rPr>
              <a:t>After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successful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execution,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server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connects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starts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listening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for </a:t>
            </a:r>
            <a:r>
              <a:rPr sz="1200" dirty="0">
                <a:latin typeface="Microsoft Sans Serif"/>
                <a:cs typeface="Microsoft Sans Serif"/>
              </a:rPr>
              <a:t>incoming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requests.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700" b="1" dirty="0">
                <a:latin typeface="Arial"/>
                <a:cs typeface="Arial"/>
              </a:rPr>
              <a:t>API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Testing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backend APIs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can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tested using</a:t>
            </a:r>
            <a:r>
              <a:rPr sz="1200" spc="5" dirty="0">
                <a:latin typeface="Microsoft Sans Serif"/>
                <a:cs typeface="Microsoft Sans Serif"/>
              </a:rPr>
              <a:t> </a:t>
            </a:r>
            <a:r>
              <a:rPr sz="1200" b="1" spc="-10" dirty="0">
                <a:latin typeface="Arial"/>
                <a:cs typeface="Arial"/>
              </a:rPr>
              <a:t>Postman</a:t>
            </a:r>
            <a:r>
              <a:rPr sz="1200" spc="-10" dirty="0"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300" b="1" dirty="0">
                <a:latin typeface="Arial"/>
                <a:cs typeface="Arial"/>
              </a:rPr>
              <a:t>1.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User</a:t>
            </a:r>
            <a:r>
              <a:rPr sz="1300" b="1" spc="-2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Registration</a:t>
            </a:r>
            <a:endParaRPr sz="1300">
              <a:latin typeface="Arial"/>
              <a:cs typeface="Arial"/>
            </a:endParaRPr>
          </a:p>
          <a:p>
            <a:pPr marL="12700" marR="283845">
              <a:lnSpc>
                <a:spcPts val="1380"/>
              </a:lnSpc>
              <a:spcBef>
                <a:spcPts val="630"/>
              </a:spcBef>
            </a:pPr>
            <a:r>
              <a:rPr sz="1200" dirty="0">
                <a:latin typeface="Microsoft Sans Serif"/>
                <a:cs typeface="Microsoft Sans Serif"/>
              </a:rPr>
              <a:t>Registers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new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by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accepting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required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details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securely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storing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the </a:t>
            </a:r>
            <a:r>
              <a:rPr sz="1200" dirty="0">
                <a:latin typeface="Microsoft Sans Serif"/>
                <a:cs typeface="Microsoft Sans Serif"/>
              </a:rPr>
              <a:t>encrypted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password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MongoDB</a:t>
            </a:r>
            <a:r>
              <a:rPr sz="1200" spc="-10" dirty="0">
                <a:latin typeface="Microsoft Sans Serif"/>
                <a:cs typeface="Microsoft Sans Serif"/>
              </a:rPr>
              <a:t> database.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/api/auth/register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526083"/>
            <a:ext cx="5629910" cy="12287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300" b="1" dirty="0">
                <a:latin typeface="Arial"/>
                <a:cs typeface="Arial"/>
              </a:rPr>
              <a:t>2.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User</a:t>
            </a:r>
            <a:r>
              <a:rPr sz="1300" b="1" spc="-2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Login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ts val="1380"/>
              </a:lnSpc>
              <a:spcBef>
                <a:spcPts val="640"/>
              </a:spcBef>
            </a:pPr>
            <a:r>
              <a:rPr sz="1200" dirty="0">
                <a:latin typeface="Microsoft Sans Serif"/>
                <a:cs typeface="Microsoft Sans Serif"/>
              </a:rPr>
              <a:t>Authenticates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registered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generates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 JWT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access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token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10" dirty="0">
                <a:latin typeface="Microsoft Sans Serif"/>
                <a:cs typeface="Microsoft Sans Serif"/>
              </a:rPr>
              <a:t> accessing </a:t>
            </a:r>
            <a:r>
              <a:rPr sz="1200" dirty="0">
                <a:latin typeface="Microsoft Sans Serif"/>
                <a:cs typeface="Microsoft Sans Serif"/>
              </a:rPr>
              <a:t>protected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APIs.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/api/auth/login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730875" cy="36192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794247"/>
            <a:ext cx="5730875" cy="36192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9481819"/>
            <a:ext cx="19405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3.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Upload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Study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Material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670550" cy="9296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Microsoft Sans Serif"/>
                <a:cs typeface="Microsoft Sans Serif"/>
              </a:rPr>
              <a:t>Allows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authenticated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users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material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that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will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be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used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input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AI-</a:t>
            </a:r>
            <a:r>
              <a:rPr sz="1200" dirty="0">
                <a:latin typeface="Microsoft Sans Serif"/>
                <a:cs typeface="Microsoft Sans Serif"/>
              </a:rPr>
              <a:t>powered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content</a:t>
            </a:r>
            <a:r>
              <a:rPr sz="1200" spc="-10" dirty="0">
                <a:latin typeface="Microsoft Sans Serif"/>
                <a:cs typeface="Microsoft Sans Serif"/>
              </a:rPr>
              <a:t> generation.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/api/material/upload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472345"/>
            <a:ext cx="5284470" cy="11969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300" b="1" dirty="0">
                <a:latin typeface="Arial"/>
                <a:cs typeface="Arial"/>
              </a:rPr>
              <a:t>4.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Generate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AI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Summary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415"/>
              </a:spcBef>
            </a:pPr>
            <a:r>
              <a:rPr sz="1200" dirty="0">
                <a:latin typeface="Microsoft Sans Serif"/>
                <a:cs typeface="Microsoft Sans Serif"/>
              </a:rPr>
              <a:t>Sends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material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Google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Gemini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API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and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generates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spc="-50" dirty="0">
                <a:latin typeface="Microsoft Sans Serif"/>
                <a:cs typeface="Microsoft Sans Serif"/>
              </a:rPr>
              <a:t>a </a:t>
            </a:r>
            <a:r>
              <a:rPr sz="1200" dirty="0">
                <a:latin typeface="Microsoft Sans Serif"/>
                <a:cs typeface="Microsoft Sans Serif"/>
              </a:rPr>
              <a:t>concise</a:t>
            </a:r>
            <a:r>
              <a:rPr sz="1200" spc="-3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summary.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/api/materials/:id/summarize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74519"/>
            <a:ext cx="5730875" cy="36188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511697"/>
            <a:ext cx="5307965" cy="119761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300" b="1" dirty="0">
                <a:latin typeface="Arial"/>
                <a:cs typeface="Arial"/>
              </a:rPr>
              <a:t>5.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Generate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AI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Flashcards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415"/>
              </a:spcBef>
            </a:pPr>
            <a:r>
              <a:rPr sz="1200" dirty="0">
                <a:latin typeface="Microsoft Sans Serif"/>
                <a:cs typeface="Microsoft Sans Serif"/>
              </a:rPr>
              <a:t>Creates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AI-</a:t>
            </a:r>
            <a:r>
              <a:rPr sz="1200" dirty="0">
                <a:latin typeface="Microsoft Sans Serif"/>
                <a:cs typeface="Microsoft Sans Serif"/>
              </a:rPr>
              <a:t>generated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flashcards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from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material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for</a:t>
            </a:r>
            <a:r>
              <a:rPr sz="1200" spc="-10" dirty="0">
                <a:latin typeface="Microsoft Sans Serif"/>
                <a:cs typeface="Microsoft Sans Serif"/>
              </a:rPr>
              <a:t> effective revision.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/api/ai/flashcards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730875" cy="36192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763767"/>
            <a:ext cx="5730875" cy="36186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9425431"/>
            <a:ext cx="15373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6.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Generate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AI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Quiz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664200" cy="87756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Microsoft Sans Serif"/>
                <a:cs typeface="Microsoft Sans Serif"/>
              </a:rPr>
              <a:t>Generates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multiple-</a:t>
            </a:r>
            <a:r>
              <a:rPr sz="1200" dirty="0">
                <a:latin typeface="Microsoft Sans Serif"/>
                <a:cs typeface="Microsoft Sans Serif"/>
              </a:rPr>
              <a:t>choice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questions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from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uploaded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2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material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to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help</a:t>
            </a:r>
            <a:r>
              <a:rPr sz="1200" spc="-10" dirty="0">
                <a:latin typeface="Microsoft Sans Serif"/>
                <a:cs typeface="Microsoft Sans Serif"/>
              </a:rPr>
              <a:t> users </a:t>
            </a:r>
            <a:r>
              <a:rPr sz="1200" dirty="0">
                <a:latin typeface="Microsoft Sans Serif"/>
                <a:cs typeface="Microsoft Sans Serif"/>
              </a:rPr>
              <a:t>assess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their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understanding.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/api/ai/quiz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23338"/>
            <a:ext cx="5730875" cy="36192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5610225"/>
            <a:ext cx="5307330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7.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Generate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AI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Study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Plan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3299"/>
              </a:lnSpc>
              <a:spcBef>
                <a:spcPts val="1230"/>
              </a:spcBef>
            </a:pPr>
            <a:r>
              <a:rPr sz="1200" dirty="0">
                <a:latin typeface="Microsoft Sans Serif"/>
                <a:cs typeface="Microsoft Sans Serif"/>
              </a:rPr>
              <a:t>Creates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a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personalized</a:t>
            </a:r>
            <a:r>
              <a:rPr sz="1200" spc="-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schedule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based on</a:t>
            </a:r>
            <a:r>
              <a:rPr sz="1200" spc="-15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the user's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learning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goals</a:t>
            </a:r>
            <a:r>
              <a:rPr sz="1200" spc="-10" dirty="0">
                <a:latin typeface="Microsoft Sans Serif"/>
                <a:cs typeface="Microsoft Sans Serif"/>
              </a:rPr>
              <a:t> </a:t>
            </a:r>
            <a:r>
              <a:rPr sz="1200" spc="-25" dirty="0">
                <a:latin typeface="Microsoft Sans Serif"/>
                <a:cs typeface="Microsoft Sans Serif"/>
              </a:rPr>
              <a:t>and </a:t>
            </a:r>
            <a:r>
              <a:rPr sz="1200" dirty="0">
                <a:latin typeface="Microsoft Sans Serif"/>
                <a:cs typeface="Microsoft Sans Serif"/>
              </a:rPr>
              <a:t>available</a:t>
            </a:r>
            <a:r>
              <a:rPr sz="1200" spc="-20" dirty="0">
                <a:latin typeface="Microsoft Sans Serif"/>
                <a:cs typeface="Microsoft Sans Serif"/>
              </a:rPr>
              <a:t> </a:t>
            </a:r>
            <a:r>
              <a:rPr sz="1200" dirty="0">
                <a:latin typeface="Microsoft Sans Serif"/>
                <a:cs typeface="Microsoft Sans Serif"/>
              </a:rPr>
              <a:t>study</a:t>
            </a:r>
            <a:r>
              <a:rPr sz="1200" spc="-35" dirty="0">
                <a:latin typeface="Microsoft Sans Serif"/>
                <a:cs typeface="Microsoft Sans Serif"/>
              </a:rPr>
              <a:t> </a:t>
            </a:r>
            <a:r>
              <a:rPr sz="1200" spc="-20" dirty="0">
                <a:latin typeface="Microsoft Sans Serif"/>
                <a:cs typeface="Microsoft Sans Serif"/>
              </a:rPr>
              <a:t>time.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200" b="1" spc="-10" dirty="0">
                <a:latin typeface="Arial"/>
                <a:cs typeface="Arial"/>
              </a:rPr>
              <a:t>Endpoint: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200" dirty="0">
                <a:latin typeface="Microsoft Sans Serif"/>
                <a:cs typeface="Microsoft Sans Serif"/>
              </a:rPr>
              <a:t>POST</a:t>
            </a:r>
            <a:r>
              <a:rPr sz="1200" spc="30" dirty="0">
                <a:latin typeface="Microsoft Sans Serif"/>
                <a:cs typeface="Microsoft Sans Serif"/>
              </a:rPr>
              <a:t> </a:t>
            </a:r>
            <a:r>
              <a:rPr sz="1200" spc="-10" dirty="0">
                <a:latin typeface="Microsoft Sans Serif"/>
                <a:cs typeface="Microsoft Sans Serif"/>
              </a:rPr>
              <a:t>/api/ai/study-</a:t>
            </a:r>
            <a:r>
              <a:rPr sz="1200" spc="-20" dirty="0">
                <a:latin typeface="Microsoft Sans Serif"/>
                <a:cs typeface="Microsoft Sans Serif"/>
              </a:rPr>
              <a:t>plan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730875" cy="361924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2004" y="4837006"/>
            <a:ext cx="4364990" cy="116205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384"/>
              </a:spcBef>
            </a:pP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API</a:t>
            </a:r>
            <a:r>
              <a:rPr sz="1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TESTING</a:t>
            </a:r>
            <a:r>
              <a:rPr sz="1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LINK</a:t>
            </a:r>
            <a:r>
              <a:rPr sz="14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:</a:t>
            </a:r>
            <a:r>
              <a:rPr sz="1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u="sng" spc="-1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Microsoft Sans Serif"/>
                <a:cs typeface="Microsoft Sans Serif"/>
                <a:hlinkClick r:id="rId3"/>
              </a:rPr>
              <a:t>AI_Studybuddy_Execution_Demo.mkv</a:t>
            </a:r>
            <a:r>
              <a:rPr sz="1200" spc="-10" dirty="0">
                <a:solidFill>
                  <a:srgbClr val="0000ED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Arial"/>
                <a:cs typeface="Arial"/>
              </a:rPr>
              <a:t>DEMO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VIDEO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LINK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 </a:t>
            </a:r>
            <a:r>
              <a:rPr sz="1100" b="1" u="sng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4"/>
              </a:rPr>
              <a:t>https://drive.google.com/file/d/11ShkBRp-qSXogvOqFn4InZa3CQok1GFr/view?usp=drive_link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Code</a:t>
            </a:r>
            <a:r>
              <a:rPr sz="1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Drive</a:t>
            </a:r>
            <a:r>
              <a:rPr sz="1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Link</a:t>
            </a:r>
            <a:r>
              <a:rPr sz="1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34343"/>
                </a:solidFill>
                <a:latin typeface="Arial"/>
                <a:cs typeface="Arial"/>
              </a:rPr>
              <a:t>:</a:t>
            </a:r>
            <a:r>
              <a:rPr sz="1400" b="1" spc="-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200" u="sng" spc="-2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Microsoft Sans Serif"/>
                <a:cs typeface="Microsoft Sans Serif"/>
                <a:hlinkClick r:id="rId5"/>
              </a:rPr>
              <a:t>Code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19</TotalTime>
  <Words>3479</Words>
  <Application>Microsoft Office PowerPoint</Application>
  <PresentationFormat>Custom</PresentationFormat>
  <Paragraphs>332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Consolas</vt:lpstr>
      <vt:lpstr>Courier New</vt:lpstr>
      <vt:lpstr>Microsoft Sans Serif</vt:lpstr>
      <vt:lpstr>Neue Haas Grotesk Text Pro</vt:lpstr>
      <vt:lpstr>Axis</vt:lpstr>
      <vt:lpstr>NAAN MUDHALVAN PROJECT</vt:lpstr>
      <vt:lpstr>AI StudyBuddy -  - AI assistant for smarter learning and study support.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hajiya sakeena</dc:creator>
  <cp:lastModifiedBy>hajiya sakeena</cp:lastModifiedBy>
  <cp:revision>1</cp:revision>
  <dcterms:created xsi:type="dcterms:W3CDTF">2026-09-30T13:05:56Z</dcterms:created>
  <dcterms:modified xsi:type="dcterms:W3CDTF">2026-09-30T13:26:28Z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2026-09-30T00:00:00Z</vt:filetime>
  </property>
  <property fmtid="{D5CDD505-2E9C-101B-9397-08002B2CF9AE}" pid="6" name="Producer">
    <vt:lpwstr>www.ilovepdf.com</vt:lpwstr>
  </property>
</Properties>
</file>